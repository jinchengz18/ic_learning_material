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7"/>
  </p:notesMasterIdLst>
  <p:handoutMasterIdLst>
    <p:handoutMasterId r:id="rId10"/>
  </p:handout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  <p:sldId id="267" r:id="rId27"/>
    <p:sldId id="268" r:id="rId28"/>
    <p:sldId id="269" r:id="rId29"/>
    <p:sldId id="270" r:id="rId30"/>
    <p:sldId id="271" r:id="rId31"/>
    <p:sldId id="272" r:id="rId32"/>
    <p:sldId id="273" r:id="rId33"/>
    <p:sldId id="274" r:id="rId34"/>
    <p:sldId id="275" r:id="rId35"/>
    <p:sldId id="276" r:id="rId36"/>
    <p:sldId id="277" r:id="rId37"/>
    <p:sldId id="278" r:id="rId38"/>
    <p:sldId id="279" r:id="rId39"/>
  </p:sldIdLst>
  <p:sldSz cx="12191695" cy="6858000"/>
  <p:notesSz cx="9144000" cy="6858000"/>
  <p:custDataLst>
    <p:tags r:id="rId15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/>
  <p:cmAuthor id="2" name="MacBook Pro" initials="MP" lastIdx="4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999999"/>
    <a:srgbClr val="66308B"/>
    <a:srgbClr val="661D53"/>
    <a:srgbClr val="75207E"/>
    <a:srgbClr val="333399"/>
    <a:srgbClr val="0000FF"/>
    <a:srgbClr val="E6E6E6"/>
    <a:srgbClr val="7878BC"/>
    <a:srgbClr val="5D5DA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93248" autoAdjust="0"/>
  </p:normalViewPr>
  <p:slideViewPr>
    <p:cSldViewPr showGuides="1">
      <p:cViewPr varScale="1">
        <p:scale>
          <a:sx n="74" d="100"/>
          <a:sy n="74" d="100"/>
        </p:scale>
        <p:origin x="408" y="66"/>
      </p:cViewPr>
      <p:guideLst>
        <p:guide orient="horz" pos="2061"/>
        <p:guide pos="377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23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9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9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05979" y="0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552950" y="642938"/>
            <a:ext cx="3086100" cy="173593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19200" y="2475309"/>
            <a:ext cx="9753600" cy="202525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4885432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05979" y="4885432"/>
            <a:ext cx="5283200" cy="25806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4552244" y="642938"/>
            <a:ext cx="3087511" cy="1736725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 dirty="0">
                <a:latin typeface="+mj-ea"/>
                <a:ea typeface="+mj-ea"/>
                <a:cs typeface="Times New Roman" panose="02020603050405020304" charset="0"/>
                <a:sym typeface="+mn-ea"/>
              </a:rPr>
              <a:t>FLOP</a:t>
            </a:r>
            <a:r>
              <a:rPr lang="zh-CN" altLang="en-US" dirty="0">
                <a:latin typeface="+mj-ea"/>
                <a:ea typeface="+mj-ea"/>
                <a:cs typeface="Times New Roman" panose="02020603050405020304" charset="0"/>
                <a:sym typeface="+mn-ea"/>
              </a:rPr>
              <a:t>： (</a:t>
            </a:r>
            <a:r>
              <a:rPr lang="en-US" altLang="zh-CN" dirty="0">
                <a:latin typeface="+mj-ea"/>
                <a:ea typeface="+mj-ea"/>
                <a:cs typeface="Times New Roman" panose="02020603050405020304" charset="0"/>
                <a:sym typeface="+mn-ea"/>
              </a:rPr>
              <a:t>Floating Point Operations</a:t>
            </a:r>
            <a:r>
              <a:rPr lang="zh-CN" altLang="en-US" dirty="0">
                <a:latin typeface="+mj-ea"/>
                <a:ea typeface="+mj-ea"/>
                <a:cs typeface="Times New Roman" panose="02020603050405020304" charset="0"/>
                <a:sym typeface="+mn-ea"/>
              </a:rPr>
              <a:t>) </a:t>
            </a:r>
            <a:r>
              <a:rPr lang="zh-CN" altLang="en-US" dirty="0">
                <a:latin typeface="+mj-ea"/>
                <a:ea typeface="+mj-ea"/>
                <a:cs typeface="Times New Roman" panose="02020603050405020304" charset="0"/>
                <a:sym typeface="+mn-ea"/>
              </a:rPr>
              <a:t>浮点运算次数，</a:t>
            </a:r>
            <a:r>
              <a:rPr lang="en-US" altLang="zh-CN" dirty="0">
                <a:latin typeface="+mj-ea"/>
                <a:ea typeface="+mj-ea"/>
                <a:cs typeface="Times New Roman" panose="02020603050405020304" charset="0"/>
                <a:sym typeface="+mn-ea"/>
              </a:rPr>
              <a:t>1 PetaFLOP = 10^15 FLOPs</a:t>
            </a:r>
            <a:endParaRPr lang="zh-CN" altLang="en-US" dirty="0">
              <a:latin typeface="+mj-ea"/>
              <a:ea typeface="+mj-ea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4552950" y="642938"/>
            <a:ext cx="3086100" cy="1736725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>
              <a:latin typeface="+mj-ea"/>
              <a:ea typeface="+mj-ea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4552244" y="642938"/>
            <a:ext cx="3087511" cy="1736725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>
              <a:latin typeface="FZDaHei-B02S" panose="02000000000000000000" charset="-122"/>
              <a:ea typeface="FZDaHei-B02S" panose="02000000000000000000" charset="-122"/>
              <a:cs typeface="FZDaHei-B02S" panose="02000000000000000000" charset="-122"/>
              <a:sym typeface="+mn-ea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1739367" y="6023739"/>
            <a:ext cx="359561" cy="302923"/>
          </a:xfrm>
        </p:spPr>
        <p:txBody>
          <a:bodyPr/>
          <a:lstStyle/>
          <a:p>
            <a:fld id="{C08BD095-641A-4F2C-B76B-81C372666155}" type="slidenum">
              <a:rPr lang="en-US" altLang="zh-CN" smtClean="0"/>
            </a:fld>
            <a:endParaRPr lang="en-US" dirty="0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39" y="365125"/>
            <a:ext cx="10516088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39" y="6356350"/>
            <a:ext cx="2743327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787" y="6356350"/>
            <a:ext cx="411499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1739367" y="6023739"/>
            <a:ext cx="359561" cy="302923"/>
          </a:xfrm>
        </p:spPr>
        <p:txBody>
          <a:bodyPr/>
          <a:lstStyle/>
          <a:p>
            <a:fld id="{C08BD095-641A-4F2C-B76B-81C372666155}" type="slidenum">
              <a:rPr lang="en-US" altLang="zh-CN" smtClean="0"/>
            </a:fld>
            <a:endParaRPr lang="en-US" dirty="0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39" y="365125"/>
            <a:ext cx="10516088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39" y="6356350"/>
            <a:ext cx="2743327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787" y="6356350"/>
            <a:ext cx="411499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1739367" y="6023739"/>
            <a:ext cx="359561" cy="302923"/>
          </a:xfrm>
        </p:spPr>
        <p:txBody>
          <a:bodyPr/>
          <a:lstStyle/>
          <a:p>
            <a:fld id="{C08BD095-641A-4F2C-B76B-81C372666155}" type="slidenum">
              <a:rPr lang="en-US" altLang="zh-CN" smtClean="0"/>
            </a:fld>
            <a:endParaRPr lang="en-US"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39" y="365125"/>
            <a:ext cx="10516088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39" y="6356350"/>
            <a:ext cx="2743327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787" y="6356350"/>
            <a:ext cx="4114991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1739367" y="6023739"/>
            <a:ext cx="359561" cy="302923"/>
          </a:xfrm>
        </p:spPr>
        <p:txBody>
          <a:bodyPr/>
          <a:lstStyle/>
          <a:p>
            <a:fld id="{C08BD095-641A-4F2C-B76B-81C372666155}" type="slidenum">
              <a:rPr lang="en-US" altLang="zh-CN" smtClean="0"/>
            </a:fld>
            <a:endParaRPr lang="en-US" dirty="0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71" y="1122363"/>
            <a:ext cx="9144424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71" y="3602038"/>
            <a:ext cx="9144424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89" y="1709738"/>
            <a:ext cx="1051608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89" y="4589463"/>
            <a:ext cx="1051608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39" y="1825625"/>
            <a:ext cx="518184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486" y="1825625"/>
            <a:ext cx="518184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827" y="365125"/>
            <a:ext cx="10516088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827" y="1681163"/>
            <a:ext cx="515802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827" y="2505075"/>
            <a:ext cx="5158026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486" y="1681163"/>
            <a:ext cx="518342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486" y="2505075"/>
            <a:ext cx="518342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827" y="457200"/>
            <a:ext cx="393241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428" y="987425"/>
            <a:ext cx="6172486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827" y="2057400"/>
            <a:ext cx="393241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827" y="457200"/>
            <a:ext cx="393241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428" y="987425"/>
            <a:ext cx="61724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827" y="2057400"/>
            <a:ext cx="393241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5305" y="365125"/>
            <a:ext cx="2629022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39" y="365125"/>
            <a:ext cx="773465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/>
          <p:nvPr userDrawn="1"/>
        </p:nvSpPr>
        <p:spPr>
          <a:xfrm>
            <a:off x="660431" y="523500"/>
            <a:ext cx="155153" cy="42979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 userDrawn="1"/>
        </p:nvSpPr>
        <p:spPr>
          <a:xfrm>
            <a:off x="881439" y="523500"/>
            <a:ext cx="91648" cy="429798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/>
          <p:cNvPicPr/>
          <p:nvPr userDrawn="1"/>
        </p:nvPicPr>
        <p:blipFill>
          <a:blip r:embed="rId5" cstate="print"/>
          <a:srcRect r="2166" b="-8597"/>
          <a:stretch>
            <a:fillRect/>
          </a:stretch>
        </p:blipFill>
        <p:spPr>
          <a:xfrm>
            <a:off x="228611" y="228600"/>
            <a:ext cx="7920367" cy="152400"/>
          </a:xfrm>
          <a:prstGeom prst="rect">
            <a:avLst/>
          </a:prstGeom>
          <a:ln>
            <a:noFill/>
          </a:ln>
        </p:spPr>
      </p:pic>
      <p:sp>
        <p:nvSpPr>
          <p:cNvPr id="8" name="矩形"/>
          <p:cNvSpPr/>
          <p:nvPr userDrawn="1"/>
        </p:nvSpPr>
        <p:spPr>
          <a:xfrm>
            <a:off x="-7163" y="6384628"/>
            <a:ext cx="12207115" cy="487254"/>
          </a:xfrm>
          <a:prstGeom prst="rect">
            <a:avLst/>
          </a:prstGeom>
          <a:solidFill>
            <a:srgbClr val="4B0C77">
              <a:alpha val="85000"/>
            </a:srgbClr>
          </a:solidFill>
          <a:ln w="12700">
            <a:miter lim="400000"/>
          </a:ln>
        </p:spPr>
        <p:txBody>
          <a:bodyPr lIns="47622" tIns="47622" rIns="47622" bIns="47622" anchor="ctr"/>
          <a:lstStyle/>
          <a:p>
            <a:pPr>
              <a:defRPr sz="2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065"/>
          </a:p>
        </p:txBody>
      </p:sp>
      <p:sp>
        <p:nvSpPr>
          <p:cNvPr id="9" name="矩形 8"/>
          <p:cNvSpPr/>
          <p:nvPr userDrawn="1"/>
        </p:nvSpPr>
        <p:spPr>
          <a:xfrm>
            <a:off x="-7163" y="6461519"/>
            <a:ext cx="12207115" cy="350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85" b="1" baseline="0" dirty="0">
                <a:solidFill>
                  <a:schemeClr val="bg1"/>
                </a:solidFill>
                <a:latin typeface="+mj-ea"/>
                <a:ea typeface="+mj-ea"/>
              </a:rPr>
              <a:t>---</a:t>
            </a:r>
            <a:endParaRPr lang="en-US" sz="1685" b="1" baseline="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48005" rtl="0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562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779145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0665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0" marR="0" indent="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None/>
        <a:defRPr sz="3095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33755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250315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666875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083435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500630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917190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333750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3750310" marR="0" indent="-416560" algn="l" defTabSz="548005" rtl="0" latinLnBrk="0">
        <a:lnSpc>
          <a:spcPct val="100000"/>
        </a:lnSpc>
        <a:spcBef>
          <a:spcPts val="3935"/>
        </a:spcBef>
        <a:spcAft>
          <a:spcPts val="0"/>
        </a:spcAft>
        <a:buClrTx/>
        <a:buSzPct val="145000"/>
        <a:buFontTx/>
        <a:buChar char="•"/>
        <a:defRPr sz="30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14630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28625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43255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857250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071880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285875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500505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714500" algn="ctr" defTabSz="548005" latinLnBrk="0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15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39" y="365125"/>
            <a:ext cx="1051608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39" y="1825625"/>
            <a:ext cx="10516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39" y="6356350"/>
            <a:ext cx="27433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2F674-8AB4-4979-A2E4-F43D1BFDAD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787" y="6356350"/>
            <a:ext cx="41149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999" y="6356350"/>
            <a:ext cx="27433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BDD0D8-0AC1-4988-9356-0E65C0B2084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97550"/>
            <a:ext cx="6263640" cy="47144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97550"/>
            <a:ext cx="6263640" cy="47144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考虑信号/电源 Pad 交替、ESD、Corner Pad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面阵列引出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常配 RDL；是否需要取决封装/凸点布局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bump 对齐 bump map，控间距与比例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VDD—VVDD，更常用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控冲击电流、规划 always-on PG</a:t>
            </a:r>
          </a:p>
        </p:txBody>
      </p:sp>
      <p:pic>
        <p:nvPicPr>
          <p:cNvPr id="6" name="Picture 5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 vs 局部 / pin-access 拥塞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</a:t>
            </a:r>
          </a:p>
        </p:txBody>
      </p:sp>
      <p:pic>
        <p:nvPicPr>
          <p:cNvPr id="6" name="Picture 5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2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3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4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5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6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7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8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9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0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1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2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3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4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5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6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7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8.xml><?xml version="1.0" encoding="utf-8"?>
<p:tagLst xmlns:p="http://schemas.openxmlformats.org/presentationml/2006/main">
  <p:tag name="KSO_WM_DIAGRAM_VIRTUALLY_FRAME" val="{&quot;height&quot;:394,&quot;left&quot;:345.93015748031496,&quot;top&quot;:89,&quot;width&quot;:607.4486194043847}"/>
</p:tagLst>
</file>

<file path=ppt/tags/tag19.xml><?xml version="1.0" encoding="utf-8"?>
<p:tagLst xmlns:p="http://schemas.openxmlformats.org/presentationml/2006/main">
  <p:tag name="KSO_WM_DIAGRAM_VIRTUALLY_FRAME" val="{&quot;height&quot;:600.9888188976377,&quot;left&quot;:301.08039370078734,&quot;top&quot;:89,&quot;width&quot;:652.9171653543308}"/>
</p:tagLst>
</file>

<file path=ppt/tags/tag20.xml><?xml version="1.0" encoding="utf-8"?>
<p:tagLst xmlns:p="http://schemas.openxmlformats.org/presentationml/2006/main">
  <p:tag name="KSO_WM_DIAGRAM_VIRTUALLY_FRAME" val="{&quot;height&quot;:453.55,&quot;left&quot;:18.000236220472438,&quot;top&quot;:154.6,&quot;width&quot;:923.9997637795275}"/>
</p:tagLst>
</file>

<file path=ppt/tags/tag21.xml><?xml version="1.0" encoding="utf-8"?>
<p:tagLst xmlns:p="http://schemas.openxmlformats.org/presentationml/2006/main">
  <p:tag name="KSO_WM_DIAGRAM_VIRTUALLY_FRAME" val="{&quot;height&quot;:453.55,&quot;left&quot;:18.000236220472438,&quot;top&quot;:154.6,&quot;width&quot;:923.9997637795275}"/>
</p:tagLst>
</file>

<file path=ppt/tags/tag22.xml><?xml version="1.0" encoding="utf-8"?>
<p:tagLst xmlns:p="http://schemas.openxmlformats.org/presentationml/2006/main">
  <p:tag name="KSO_WM_DIAGRAM_VIRTUALLY_FRAME" val="{&quot;height&quot;:453.55,&quot;left&quot;:18.000236220472438,&quot;top&quot;:154.6,&quot;width&quot;:923.9997637795275}"/>
</p:tagLst>
</file>

<file path=ppt/tags/tag23.xml><?xml version="1.0" encoding="utf-8"?>
<p:tagLst xmlns:p="http://schemas.openxmlformats.org/presentationml/2006/main">
  <p:tag name="COMMONDATA" val="eyJoZGlkIjoiNDgzMGE5ZGMzMTY2MDdiMTE4NTQ0ZTc5NTM0ZDJjN2IifQ=="/>
</p:tagLst>
</file>

<file path=ppt/theme/theme1.xml><?xml version="1.0" encoding="utf-8"?>
<a:theme xmlns:a="http://schemas.openxmlformats.org/drawingml/2006/main" name="3_金砖大赛 工程仿真赛项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4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88266F"/>
      </a:accent1>
      <a:accent2>
        <a:srgbClr val="C7A74B"/>
      </a:accent2>
      <a:accent3>
        <a:srgbClr val="CAACC4"/>
      </a:accent3>
      <a:accent4>
        <a:srgbClr val="806D9B"/>
      </a:accent4>
      <a:accent5>
        <a:srgbClr val="BFBFBF"/>
      </a:accent5>
      <a:accent6>
        <a:srgbClr val="D9D9D9"/>
      </a:accent6>
      <a:hlink>
        <a:srgbClr val="F84D4D"/>
      </a:hlink>
      <a:folHlink>
        <a:srgbClr val="BFBFBF"/>
      </a:folHlink>
    </a:clrScheme>
    <a:fontScheme name="hc40pbhd">
      <a:majorFont>
        <a:latin typeface="思源黑体 CN Regular"/>
        <a:ea typeface="思源黑体 CN Regular"/>
        <a:cs typeface=""/>
      </a:majorFont>
      <a:minorFont>
        <a:latin typeface="思源黑体 CN Regular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自定义 4">
    <a:dk1>
      <a:srgbClr val="000000"/>
    </a:dk1>
    <a:lt1>
      <a:srgbClr val="FFFFFF"/>
    </a:lt1>
    <a:dk2>
      <a:srgbClr val="778495"/>
    </a:dk2>
    <a:lt2>
      <a:srgbClr val="F0F0F0"/>
    </a:lt2>
    <a:accent1>
      <a:srgbClr val="88266F"/>
    </a:accent1>
    <a:accent2>
      <a:srgbClr val="C7A74B"/>
    </a:accent2>
    <a:accent3>
      <a:srgbClr val="CAACC4"/>
    </a:accent3>
    <a:accent4>
      <a:srgbClr val="806D9B"/>
    </a:accent4>
    <a:accent5>
      <a:srgbClr val="BFBFBF"/>
    </a:accent5>
    <a:accent6>
      <a:srgbClr val="D9D9D9"/>
    </a:accent6>
    <a:hlink>
      <a:srgbClr val="F84D4D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</Words>
  <Application>WPS 演示</Application>
  <PresentationFormat>宽屏</PresentationFormat>
  <Paragraphs>68</Paragraphs>
  <Slides>5</Slides>
  <Notes>27</Notes>
  <HiddenSlides>0</HiddenSlides>
  <MMClips>1</MMClips>
  <ScaleCrop>false</ScaleCrop>
  <HeadingPairs>
    <vt:vector size="6" baseType="variant">
      <vt:variant>
        <vt:lpstr>已用的字体</vt:lpstr>
      </vt:variant>
      <vt:variant>
        <vt:i4>27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34" baseType="lpstr">
      <vt:lpstr>Arial</vt:lpstr>
      <vt:lpstr>宋体</vt:lpstr>
      <vt:lpstr>Wingdings</vt:lpstr>
      <vt:lpstr>Helvetica Neue Medium</vt:lpstr>
      <vt:lpstr>Helvetica Neue</vt:lpstr>
      <vt:lpstr>Helvetica Neue Light</vt:lpstr>
      <vt:lpstr>Arial</vt:lpstr>
      <vt:lpstr>Times New Roman</vt:lpstr>
      <vt:lpstr>黑体</vt:lpstr>
      <vt:lpstr>Source Han Serif CN Heavy</vt:lpstr>
      <vt:lpstr>微软雅黑</vt:lpstr>
      <vt:lpstr>FZDaHei-B02S</vt:lpstr>
      <vt:lpstr>等线</vt:lpstr>
      <vt:lpstr>华文新魏</vt:lpstr>
      <vt:lpstr>Wingdings</vt:lpstr>
      <vt:lpstr>Arial Unicode MS</vt:lpstr>
      <vt:lpstr>Calibri</vt:lpstr>
      <vt:lpstr>方正正中黑简体</vt:lpstr>
      <vt:lpstr>思源宋体 CN Medium</vt:lpstr>
      <vt:lpstr>Cambria Math</vt:lpstr>
      <vt:lpstr>Times New Roman</vt:lpstr>
      <vt:lpstr>Helvetica Neue</vt:lpstr>
      <vt:lpstr>PingFang SC</vt:lpstr>
      <vt:lpstr>Segoe Print</vt:lpstr>
      <vt:lpstr>思源黑体 CN Regular</vt:lpstr>
      <vt:lpstr>BatangChe</vt:lpstr>
      <vt:lpstr>Arial Black</vt:lpstr>
      <vt:lpstr>3_金砖大赛 工程仿真赛项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量子点的合成与性能调控</dc:title>
  <dc:creator>J.C</dc:creator>
  <cp:lastModifiedBy>邵东一中_张锦程</cp:lastModifiedBy>
  <cp:revision>3069</cp:revision>
  <dcterms:created xsi:type="dcterms:W3CDTF">2020-07-17T14:59:00Z</dcterms:created>
  <dcterms:modified xsi:type="dcterms:W3CDTF">2026-06-23T07:06:08Z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2020-08-13T08:00:00Z</vt:filetime>
  </property>
  <property fmtid="{D5CDD505-2E9C-101B-9397-08002B2CF9AE}" pid="3" name="Creator">
    <vt:lpwstr>WPS 演示</vt:lpwstr>
  </property>
  <property fmtid="{D5CDD505-2E9C-101B-9397-08002B2CF9AE}" pid="4" name="LastSaved">
    <vt:filetime>2020-08-15T08:00:00Z</vt:filetime>
  </property>
  <property fmtid="{D5CDD505-2E9C-101B-9397-08002B2CF9AE}" pid="5" name="KSOProductBuildVer">
    <vt:lpwstr>2052-12.1.0.23542</vt:lpwstr>
  </property>
  <property fmtid="{D5CDD505-2E9C-101B-9397-08002B2CF9AE}" pid="6" name="ICV">
    <vt:lpwstr>6C3EEEB3C1F84FED891218E4B4BE1E74_13</vt:lpwstr>
  </property>
</Properties>
</file>