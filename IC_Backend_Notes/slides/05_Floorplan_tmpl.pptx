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25"/>
  </p:notesMasterIdLst>
  <p:handoutMasterIdLst>
    <p:handoutMasterId r:id="rId26"/>
  </p:handoutMasterIdLst>
  <p:sldIdLst>
    <p:sldId id="256" r:id="rId4"/>
    <p:sldId id="257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1365" cy="6858000"/>
  <p:notesSz cx="9144000" cy="6858000"/>
  <p:custDataLst>
    <p:tags r:id="rId31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1" userDrawn="1">
          <p15:clr>
            <a:srgbClr val="A4A3A4"/>
          </p15:clr>
        </p15:guide>
        <p15:guide id="2" pos="37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/>
  <p:cmAuthor id="2" name="MacBook Pro" initials="MP" lastIdx="4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999999"/>
    <a:srgbClr val="66308B"/>
    <a:srgbClr val="661D53"/>
    <a:srgbClr val="75207E"/>
    <a:srgbClr val="333399"/>
    <a:srgbClr val="0000FF"/>
    <a:srgbClr val="E6E6E6"/>
    <a:srgbClr val="7878BC"/>
    <a:srgbClr val="5D5DA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3248" autoAdjust="0"/>
  </p:normalViewPr>
  <p:slideViewPr>
    <p:cSldViewPr showGuides="1">
      <p:cViewPr varScale="1">
        <p:scale>
          <a:sx n="74" d="100"/>
          <a:sy n="74" d="100"/>
        </p:scale>
        <p:origin x="408" y="66"/>
      </p:cViewPr>
      <p:guideLst>
        <p:guide orient="horz" pos="2061"/>
        <p:guide pos="37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1" Type="http://schemas.openxmlformats.org/officeDocument/2006/relationships/tags" Target="tags/tag20.xml"/><Relationship Id="rId30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552950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2475309"/>
            <a:ext cx="9753600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979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739367" y="6023739"/>
            <a:ext cx="359561" cy="302923"/>
          </a:xfrm>
        </p:spPr>
        <p:txBody>
          <a:bodyPr/>
          <a:lstStyle/>
          <a:p>
            <a:fld id="{C08BD095-641A-4F2C-B76B-81C372666155}" type="slidenum">
              <a:rPr lang="en-US" altLang="zh-CN" smtClean="0"/>
            </a:fld>
            <a:endParaRPr lang="en-US" dirty="0"/>
          </a:p>
        </p:txBody>
      </p:sp>
      <p:sp>
        <p:nvSpPr>
          <p:cNvPr id="59" name="object 6"/>
          <p:cNvSpPr/>
          <p:nvPr userDrawn="1"/>
        </p:nvSpPr>
        <p:spPr>
          <a:xfrm>
            <a:off x="235585" y="1054735"/>
            <a:ext cx="11519535" cy="40005"/>
          </a:xfrm>
          <a:custGeom>
            <a:avLst/>
            <a:gdLst/>
            <a:ahLst/>
            <a:cxnLst/>
            <a:rect l="l" t="t" r="r" b="b"/>
            <a:pathLst>
              <a:path w="8153400" h="40005">
                <a:moveTo>
                  <a:pt x="8153400" y="39750"/>
                </a:moveTo>
                <a:lnTo>
                  <a:pt x="0" y="38163"/>
                </a:lnTo>
                <a:lnTo>
                  <a:pt x="0" y="0"/>
                </a:lnTo>
                <a:lnTo>
                  <a:pt x="8153400" y="1587"/>
                </a:lnTo>
                <a:lnTo>
                  <a:pt x="8153400" y="3975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71" y="1122363"/>
            <a:ext cx="9144424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71" y="3602038"/>
            <a:ext cx="914442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2F674-8AB4-4979-A2E4-F43D1BFDAD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D0D8-0AC1-4988-9356-0E65C0B208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2F674-8AB4-4979-A2E4-F43D1BFDAD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D0D8-0AC1-4988-9356-0E65C0B208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89" y="1709738"/>
            <a:ext cx="1051608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89" y="4589463"/>
            <a:ext cx="1051608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2F674-8AB4-4979-A2E4-F43D1BFDAD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D0D8-0AC1-4988-9356-0E65C0B208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39" y="1825625"/>
            <a:ext cx="518184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486" y="1825625"/>
            <a:ext cx="518184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2F674-8AB4-4979-A2E4-F43D1BFDAD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D0D8-0AC1-4988-9356-0E65C0B208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27" y="365125"/>
            <a:ext cx="10516088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827" y="1681163"/>
            <a:ext cx="51580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827" y="2505075"/>
            <a:ext cx="515802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486" y="1681163"/>
            <a:ext cx="518342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486" y="2505075"/>
            <a:ext cx="518342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2F674-8AB4-4979-A2E4-F43D1BFDAD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D0D8-0AC1-4988-9356-0E65C0B208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2F674-8AB4-4979-A2E4-F43D1BFDAD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D0D8-0AC1-4988-9356-0E65C0B208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27" y="457200"/>
            <a:ext cx="39324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428" y="987425"/>
            <a:ext cx="617248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27" y="2057400"/>
            <a:ext cx="39324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2F674-8AB4-4979-A2E4-F43D1BFDAD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D0D8-0AC1-4988-9356-0E65C0B208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27" y="457200"/>
            <a:ext cx="39324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8" y="987425"/>
            <a:ext cx="61724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27" y="2057400"/>
            <a:ext cx="39324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2F674-8AB4-4979-A2E4-F43D1BFDAD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D0D8-0AC1-4988-9356-0E65C0B208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2F674-8AB4-4979-A2E4-F43D1BFDAD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D0D8-0AC1-4988-9356-0E65C0B208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305" y="365125"/>
            <a:ext cx="2629022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39" y="365125"/>
            <a:ext cx="773465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2F674-8AB4-4979-A2E4-F43D1BFDAD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D0D8-0AC1-4988-9356-0E65C0B208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/>
        </p:nvSpPr>
        <p:spPr>
          <a:xfrm>
            <a:off x="660431" y="523500"/>
            <a:ext cx="155153" cy="4297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881439" y="523500"/>
            <a:ext cx="91648" cy="429798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/>
          <p:nvPr userDrawn="1"/>
        </p:nvPicPr>
        <p:blipFill>
          <a:blip r:embed="rId2" cstate="print"/>
          <a:srcRect r="2166" b="-8597"/>
          <a:stretch>
            <a:fillRect/>
          </a:stretch>
        </p:blipFill>
        <p:spPr>
          <a:xfrm>
            <a:off x="228611" y="228600"/>
            <a:ext cx="7920367" cy="152400"/>
          </a:xfrm>
          <a:prstGeom prst="rect">
            <a:avLst/>
          </a:prstGeom>
          <a:ln>
            <a:noFill/>
          </a:ln>
        </p:spPr>
      </p:pic>
      <p:sp>
        <p:nvSpPr>
          <p:cNvPr id="8" name="矩形"/>
          <p:cNvSpPr/>
          <p:nvPr userDrawn="1"/>
        </p:nvSpPr>
        <p:spPr>
          <a:xfrm>
            <a:off x="-7163" y="6384628"/>
            <a:ext cx="12207115" cy="487254"/>
          </a:xfrm>
          <a:prstGeom prst="rect">
            <a:avLst/>
          </a:prstGeom>
          <a:solidFill>
            <a:srgbClr val="4B0C77">
              <a:alpha val="85000"/>
            </a:srgbClr>
          </a:solidFill>
          <a:ln w="12700">
            <a:miter lim="400000"/>
          </a:ln>
        </p:spPr>
        <p:txBody>
          <a:bodyPr lIns="47622" tIns="47622" rIns="47622" bIns="47622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065"/>
          </a:p>
        </p:txBody>
      </p:sp>
      <p:sp>
        <p:nvSpPr>
          <p:cNvPr id="9" name="矩形 8"/>
          <p:cNvSpPr/>
          <p:nvPr userDrawn="1"/>
        </p:nvSpPr>
        <p:spPr>
          <a:xfrm>
            <a:off x="-7163" y="6461519"/>
            <a:ext cx="12207115" cy="350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85" b="1" baseline="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endParaRPr lang="en-US" sz="1685" b="1" baseline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54800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562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7791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6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7791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6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7791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6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7791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6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7791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6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7791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6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7791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6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77914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6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l" defTabSz="548005" rtl="0" latinLnBrk="0">
        <a:lnSpc>
          <a:spcPct val="100000"/>
        </a:lnSpc>
        <a:spcBef>
          <a:spcPts val="3935"/>
        </a:spcBef>
        <a:spcAft>
          <a:spcPts val="0"/>
        </a:spcAft>
        <a:buClrTx/>
        <a:buSzPct val="145000"/>
        <a:buFontTx/>
        <a:buNone/>
        <a:defRPr sz="3095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33755" marR="0" indent="-416560" algn="l" defTabSz="548005" rtl="0" latinLnBrk="0">
        <a:lnSpc>
          <a:spcPct val="100000"/>
        </a:lnSpc>
        <a:spcBef>
          <a:spcPts val="3935"/>
        </a:spcBef>
        <a:spcAft>
          <a:spcPts val="0"/>
        </a:spcAft>
        <a:buClrTx/>
        <a:buSzPct val="145000"/>
        <a:buFontTx/>
        <a:buChar char="•"/>
        <a:defRPr sz="30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250315" marR="0" indent="-416560" algn="l" defTabSz="548005" rtl="0" latinLnBrk="0">
        <a:lnSpc>
          <a:spcPct val="100000"/>
        </a:lnSpc>
        <a:spcBef>
          <a:spcPts val="3935"/>
        </a:spcBef>
        <a:spcAft>
          <a:spcPts val="0"/>
        </a:spcAft>
        <a:buClrTx/>
        <a:buSzPct val="145000"/>
        <a:buFontTx/>
        <a:buChar char="•"/>
        <a:defRPr sz="30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666875" marR="0" indent="-416560" algn="l" defTabSz="548005" rtl="0" latinLnBrk="0">
        <a:lnSpc>
          <a:spcPct val="100000"/>
        </a:lnSpc>
        <a:spcBef>
          <a:spcPts val="3935"/>
        </a:spcBef>
        <a:spcAft>
          <a:spcPts val="0"/>
        </a:spcAft>
        <a:buClrTx/>
        <a:buSzPct val="145000"/>
        <a:buFontTx/>
        <a:buChar char="•"/>
        <a:defRPr sz="30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083435" marR="0" indent="-416560" algn="l" defTabSz="548005" rtl="0" latinLnBrk="0">
        <a:lnSpc>
          <a:spcPct val="100000"/>
        </a:lnSpc>
        <a:spcBef>
          <a:spcPts val="3935"/>
        </a:spcBef>
        <a:spcAft>
          <a:spcPts val="0"/>
        </a:spcAft>
        <a:buClrTx/>
        <a:buSzPct val="145000"/>
        <a:buFontTx/>
        <a:buChar char="•"/>
        <a:defRPr sz="30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500630" marR="0" indent="-416560" algn="l" defTabSz="548005" rtl="0" latinLnBrk="0">
        <a:lnSpc>
          <a:spcPct val="100000"/>
        </a:lnSpc>
        <a:spcBef>
          <a:spcPts val="3935"/>
        </a:spcBef>
        <a:spcAft>
          <a:spcPts val="0"/>
        </a:spcAft>
        <a:buClrTx/>
        <a:buSzPct val="145000"/>
        <a:buFontTx/>
        <a:buChar char="•"/>
        <a:defRPr sz="30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917190" marR="0" indent="-416560" algn="l" defTabSz="548005" rtl="0" latinLnBrk="0">
        <a:lnSpc>
          <a:spcPct val="100000"/>
        </a:lnSpc>
        <a:spcBef>
          <a:spcPts val="3935"/>
        </a:spcBef>
        <a:spcAft>
          <a:spcPts val="0"/>
        </a:spcAft>
        <a:buClrTx/>
        <a:buSzPct val="145000"/>
        <a:buFontTx/>
        <a:buChar char="•"/>
        <a:defRPr sz="30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333750" marR="0" indent="-416560" algn="l" defTabSz="548005" rtl="0" latinLnBrk="0">
        <a:lnSpc>
          <a:spcPct val="100000"/>
        </a:lnSpc>
        <a:spcBef>
          <a:spcPts val="3935"/>
        </a:spcBef>
        <a:spcAft>
          <a:spcPts val="0"/>
        </a:spcAft>
        <a:buClrTx/>
        <a:buSzPct val="145000"/>
        <a:buFontTx/>
        <a:buChar char="•"/>
        <a:defRPr sz="30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3750310" marR="0" indent="-416560" algn="l" defTabSz="548005" rtl="0" latinLnBrk="0">
        <a:lnSpc>
          <a:spcPct val="100000"/>
        </a:lnSpc>
        <a:spcBef>
          <a:spcPts val="3935"/>
        </a:spcBef>
        <a:spcAft>
          <a:spcPts val="0"/>
        </a:spcAft>
        <a:buClrTx/>
        <a:buSzPct val="145000"/>
        <a:buFontTx/>
        <a:buChar char="•"/>
        <a:defRPr sz="30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48005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1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14630" algn="ctr" defTabSz="548005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1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28625" algn="ctr" defTabSz="548005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1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43255" algn="ctr" defTabSz="548005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1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857250" algn="ctr" defTabSz="548005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1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071880" algn="ctr" defTabSz="548005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1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285875" algn="ctr" defTabSz="548005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1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500505" algn="ctr" defTabSz="548005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1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714500" algn="ctr" defTabSz="548005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1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39" y="365125"/>
            <a:ext cx="105160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39" y="1825625"/>
            <a:ext cx="105160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39" y="6356350"/>
            <a:ext cx="27433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2F674-8AB4-4979-A2E4-F43D1BFDAD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787" y="6356350"/>
            <a:ext cx="41149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999" y="6356350"/>
            <a:ext cx="27433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DD0D8-0AC1-4988-9356-0E65C0B2084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slideLayout" Target="../slideLayouts/slideLayout7.xml"/><Relationship Id="rId21" Type="http://schemas.openxmlformats.org/officeDocument/2006/relationships/themeOverride" Target="../theme/themeOverride1.xml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" Type="http://schemas.openxmlformats.org/officeDocument/2006/relationships/image" Target="../media/image2.png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600" y="4682832"/>
            <a:ext cx="12191365" cy="5530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/>
              <a:t>---</a:t>
            </a:r>
            <a:endParaRPr lang="en-US" altLang="zh-CN" sz="2000" b="1" dirty="0"/>
          </a:p>
        </p:txBody>
      </p:sp>
      <p:sp>
        <p:nvSpPr>
          <p:cNvPr id="16" name="文本框 15"/>
          <p:cNvSpPr txBox="1"/>
          <p:nvPr/>
        </p:nvSpPr>
        <p:spPr>
          <a:xfrm>
            <a:off x="599" y="5181509"/>
            <a:ext cx="12191365" cy="5530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/>
              <a:t>---</a:t>
            </a:r>
            <a:endParaRPr lang="en-US" sz="2000" b="1" dirty="0"/>
          </a:p>
        </p:txBody>
      </p:sp>
      <p:grpSp>
        <p:nvGrpSpPr>
          <p:cNvPr id="9" name="组合 8"/>
          <p:cNvGrpSpPr/>
          <p:nvPr/>
        </p:nvGrpSpPr>
        <p:grpSpPr>
          <a:xfrm>
            <a:off x="-142267" y="1532707"/>
            <a:ext cx="12477100" cy="1219137"/>
            <a:chOff x="-253" y="2921"/>
            <a:chExt cx="19650" cy="1920"/>
          </a:xfrm>
        </p:grpSpPr>
        <p:sp>
          <p:nvSpPr>
            <p:cNvPr id="29" name="object 6"/>
            <p:cNvSpPr/>
            <p:nvPr/>
          </p:nvSpPr>
          <p:spPr>
            <a:xfrm>
              <a:off x="528" y="4721"/>
              <a:ext cx="18142" cy="120"/>
            </a:xfrm>
            <a:custGeom>
              <a:avLst/>
              <a:gdLst/>
              <a:ahLst/>
              <a:cxnLst/>
              <a:rect l="l" t="t" r="r" b="b"/>
              <a:pathLst>
                <a:path w="8153400" h="40005">
                  <a:moveTo>
                    <a:pt x="8153400" y="39750"/>
                  </a:moveTo>
                  <a:lnTo>
                    <a:pt x="0" y="38163"/>
                  </a:lnTo>
                  <a:lnTo>
                    <a:pt x="0" y="0"/>
                  </a:lnTo>
                  <a:lnTo>
                    <a:pt x="8153400" y="1587"/>
                  </a:lnTo>
                  <a:lnTo>
                    <a:pt x="8153400" y="3975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/>
          </p:txBody>
        </p:sp>
        <p:sp>
          <p:nvSpPr>
            <p:cNvPr id="10" name="object 4"/>
            <p:cNvSpPr txBox="1">
              <a:spLocks noGrp="1"/>
            </p:cNvSpPr>
            <p:nvPr/>
          </p:nvSpPr>
          <p:spPr>
            <a:xfrm>
              <a:off x="-253" y="2921"/>
              <a:ext cx="19650" cy="793"/>
            </a:xfrm>
            <a:prstGeom prst="rect">
              <a:avLst/>
            </a:prstGeom>
          </p:spPr>
          <p:txBody>
            <a:bodyPr vert="horz" wrap="square" lIns="0" tIns="12063" rIns="0" bIns="0" rtlCol="0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algn="ctr">
                <a:lnSpc>
                  <a:spcPct val="100000"/>
                </a:lnSpc>
                <a:spcBef>
                  <a:spcPts val="95"/>
                </a:spcBef>
              </a:pPr>
              <a:r>
                <a:rPr lang="en-US" altLang="zh-CN" sz="3200" b="1" dirty="0">
                  <a:solidFill>
                    <a:srgbClr val="2932E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---</a:t>
              </a:r>
              <a:endParaRPr lang="en-US" altLang="zh-CN" sz="3200" b="1" dirty="0">
                <a:solidFill>
                  <a:srgbClr val="2932E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1" name="object 6"/>
            <p:cNvSpPr/>
            <p:nvPr/>
          </p:nvSpPr>
          <p:spPr>
            <a:xfrm>
              <a:off x="531" y="4680"/>
              <a:ext cx="18142" cy="120"/>
            </a:xfrm>
            <a:custGeom>
              <a:avLst/>
              <a:gdLst/>
              <a:ahLst/>
              <a:cxnLst/>
              <a:rect l="l" t="t" r="r" b="b"/>
              <a:pathLst>
                <a:path w="8153400" h="40005">
                  <a:moveTo>
                    <a:pt x="8153400" y="39750"/>
                  </a:moveTo>
                  <a:lnTo>
                    <a:pt x="0" y="38163"/>
                  </a:lnTo>
                  <a:lnTo>
                    <a:pt x="0" y="0"/>
                  </a:lnTo>
                  <a:lnTo>
                    <a:pt x="8153400" y="1587"/>
                  </a:lnTo>
                  <a:lnTo>
                    <a:pt x="8153400" y="3975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/>
          </p:txBody>
        </p:sp>
      </p:grpSp>
      <p:sp>
        <p:nvSpPr>
          <p:cNvPr id="21" name="文本框 20"/>
          <p:cNvSpPr txBox="1"/>
          <p:nvPr/>
        </p:nvSpPr>
        <p:spPr>
          <a:xfrm>
            <a:off x="635" y="2752090"/>
            <a:ext cx="12208510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3600" b="1" dirty="0">
                <a:latin typeface="黑体" panose="02010609060101010101" charset="-122"/>
                <a:ea typeface="黑体" panose="02010609060101010101" charset="-122"/>
              </a:rPr>
              <a:t>---</a:t>
            </a:r>
            <a:endParaRPr lang="en-US" sz="36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00" y="5819650"/>
            <a:ext cx="1219073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2026</a:t>
            </a:r>
            <a:r>
              <a:rPr lang="zh-CN" altLang="en-US" sz="2000" dirty="0">
                <a:latin typeface="Times New Roman" panose="02020603050405020304" charset="0"/>
                <a:cs typeface="Times New Roman" panose="02020603050405020304" charset="0"/>
              </a:rPr>
              <a:t>年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6</a:t>
            </a:r>
            <a:r>
              <a:rPr lang="zh-CN" altLang="en-US" sz="2000" dirty="0">
                <a:latin typeface="Times New Roman" panose="02020603050405020304" charset="0"/>
                <a:cs typeface="Times New Roman" panose="02020603050405020304" charset="0"/>
              </a:rPr>
              <a:t>月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23</a:t>
            </a:r>
            <a:r>
              <a:rPr lang="zh-CN" altLang="en-US" sz="2000" dirty="0">
                <a:latin typeface="Times New Roman" panose="02020603050405020304" charset="0"/>
                <a:cs typeface="Times New Roman" panose="02020603050405020304" charset="0"/>
              </a:rPr>
              <a:t>日</a:t>
            </a:r>
            <a:endParaRPr lang="zh-CN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组合 133"/>
          <p:cNvGrpSpPr/>
          <p:nvPr>
            <p:custDataLst>
              <p:tags r:id="rId1"/>
            </p:custDataLst>
          </p:nvPr>
        </p:nvGrpSpPr>
        <p:grpSpPr>
          <a:xfrm>
            <a:off x="4393684" y="1130420"/>
            <a:ext cx="7714195" cy="5003539"/>
            <a:chOff x="7159" y="1780"/>
            <a:chExt cx="12149" cy="7880"/>
          </a:xfrm>
        </p:grpSpPr>
        <p:cxnSp>
          <p:nvCxnSpPr>
            <p:cNvPr id="95" name="直接连接符 94"/>
            <p:cNvCxnSpPr/>
            <p:nvPr>
              <p:custDataLst>
                <p:tags r:id="rId2"/>
              </p:custDataLst>
            </p:nvPr>
          </p:nvCxnSpPr>
          <p:spPr>
            <a:xfrm>
              <a:off x="8696" y="1780"/>
              <a:ext cx="0" cy="7880"/>
            </a:xfrm>
            <a:prstGeom prst="line">
              <a:avLst/>
            </a:prstGeom>
            <a:ln w="2540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椭圆 95"/>
            <p:cNvSpPr/>
            <p:nvPr>
              <p:custDataLst>
                <p:tags r:id="rId3"/>
              </p:custDataLst>
            </p:nvPr>
          </p:nvSpPr>
          <p:spPr>
            <a:xfrm>
              <a:off x="8601" y="2711"/>
              <a:ext cx="190" cy="19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7" name="椭圆 96"/>
            <p:cNvSpPr/>
            <p:nvPr>
              <p:custDataLst>
                <p:tags r:id="rId4"/>
              </p:custDataLst>
            </p:nvPr>
          </p:nvSpPr>
          <p:spPr>
            <a:xfrm>
              <a:off x="8601" y="4440"/>
              <a:ext cx="190" cy="19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椭圆 97"/>
            <p:cNvSpPr/>
            <p:nvPr>
              <p:custDataLst>
                <p:tags r:id="rId5"/>
              </p:custDataLst>
            </p:nvPr>
          </p:nvSpPr>
          <p:spPr>
            <a:xfrm>
              <a:off x="8601" y="6170"/>
              <a:ext cx="190" cy="19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椭圆 98"/>
            <p:cNvSpPr/>
            <p:nvPr>
              <p:custDataLst>
                <p:tags r:id="rId6"/>
              </p:custDataLst>
            </p:nvPr>
          </p:nvSpPr>
          <p:spPr>
            <a:xfrm>
              <a:off x="8601" y="7899"/>
              <a:ext cx="190" cy="19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00" name="组合 99"/>
            <p:cNvGrpSpPr/>
            <p:nvPr/>
          </p:nvGrpSpPr>
          <p:grpSpPr>
            <a:xfrm>
              <a:off x="9426" y="2145"/>
              <a:ext cx="9427" cy="1320"/>
              <a:chOff x="7281202" y="1489421"/>
              <a:chExt cx="5986145" cy="838225"/>
            </a:xfrm>
          </p:grpSpPr>
          <p:sp>
            <p:nvSpPr>
              <p:cNvPr id="101" name="文本框 10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7281202" y="1489421"/>
                <a:ext cx="5972810" cy="5220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en-US" sz="2800" b="1" dirty="0">
                    <a:gradFill>
                      <a:gsLst>
                        <a:gs pos="0">
                          <a:schemeClr val="accent1"/>
                        </a:gs>
                        <a:gs pos="81000">
                          <a:schemeClr val="accent1">
                            <a:lumMod val="75000"/>
                          </a:schemeClr>
                        </a:gs>
                      </a:gsLst>
                      <a:lin ang="2700000" scaled="0"/>
                    </a:gra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---</a:t>
                </a:r>
                <a:endParaRPr lang="en-US" sz="2800" b="1" dirty="0">
                  <a:gradFill>
                    <a:gsLst>
                      <a:gs pos="0">
                        <a:schemeClr val="accent1"/>
                      </a:gs>
                      <a:gs pos="81000">
                        <a:schemeClr val="accent1">
                          <a:lumMod val="75000"/>
                        </a:schemeClr>
                      </a:gs>
                    </a:gsLst>
                    <a:lin ang="2700000" scaled="0"/>
                  </a:gra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  <p:sp>
            <p:nvSpPr>
              <p:cNvPr id="102" name="文本框 101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7281202" y="2020916"/>
                <a:ext cx="5986145" cy="3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---</a:t>
                </a:r>
                <a:endParaRPr lang="en-US" altLang="zh-C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grpSp>
          <p:nvGrpSpPr>
            <p:cNvPr id="103" name="组合 102"/>
            <p:cNvGrpSpPr/>
            <p:nvPr/>
          </p:nvGrpSpPr>
          <p:grpSpPr>
            <a:xfrm>
              <a:off x="9426" y="3875"/>
              <a:ext cx="9424" cy="1320"/>
              <a:chOff x="7281202" y="1489421"/>
              <a:chExt cx="5984240" cy="838225"/>
            </a:xfrm>
          </p:grpSpPr>
          <p:sp>
            <p:nvSpPr>
              <p:cNvPr id="104" name="文本框 10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7281202" y="1489421"/>
                <a:ext cx="5984240" cy="5220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en-US" sz="2800" b="1" dirty="0">
                    <a:gradFill>
                      <a:gsLst>
                        <a:gs pos="0">
                          <a:schemeClr val="accent1"/>
                        </a:gs>
                        <a:gs pos="81000">
                          <a:schemeClr val="accent1">
                            <a:lumMod val="75000"/>
                          </a:schemeClr>
                        </a:gs>
                      </a:gsLst>
                      <a:lin ang="2700000" scaled="0"/>
                    </a:gra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---</a:t>
                </a:r>
                <a:endParaRPr lang="en-US" sz="2800" b="1" dirty="0">
                  <a:gradFill>
                    <a:gsLst>
                      <a:gs pos="0">
                        <a:schemeClr val="accent1"/>
                      </a:gs>
                      <a:gs pos="81000">
                        <a:schemeClr val="accent1">
                          <a:lumMod val="75000"/>
                        </a:schemeClr>
                      </a:gs>
                    </a:gsLst>
                    <a:lin ang="2700000" scaled="0"/>
                  </a:gra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  <p:sp>
            <p:nvSpPr>
              <p:cNvPr id="105" name="文本框 104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281202" y="2020916"/>
                <a:ext cx="5972175" cy="3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---</a:t>
                </a:r>
                <a:endParaRPr lang="en-US" altLang="zh-C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9426" y="5604"/>
              <a:ext cx="9882" cy="1320"/>
              <a:chOff x="7281202" y="1489421"/>
              <a:chExt cx="6275147" cy="838225"/>
            </a:xfrm>
          </p:grpSpPr>
          <p:sp>
            <p:nvSpPr>
              <p:cNvPr id="107" name="文本框 10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7281202" y="1489421"/>
                <a:ext cx="6275147" cy="5220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en-US" sz="2800" b="1" dirty="0">
                    <a:gradFill>
                      <a:gsLst>
                        <a:gs pos="0">
                          <a:schemeClr val="accent1"/>
                        </a:gs>
                        <a:gs pos="81000">
                          <a:schemeClr val="accent1">
                            <a:lumMod val="75000"/>
                          </a:schemeClr>
                        </a:gs>
                      </a:gsLst>
                      <a:lin ang="2700000" scaled="0"/>
                    </a:gra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---</a:t>
                </a:r>
                <a:endParaRPr lang="en-US" sz="2800" b="1" dirty="0">
                  <a:gradFill>
                    <a:gsLst>
                      <a:gs pos="0">
                        <a:schemeClr val="accent1"/>
                      </a:gs>
                      <a:gs pos="81000">
                        <a:schemeClr val="accent1">
                          <a:lumMod val="75000"/>
                        </a:schemeClr>
                      </a:gs>
                    </a:gsLst>
                    <a:lin ang="2700000" scaled="0"/>
                  </a:gra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  <p:sp>
            <p:nvSpPr>
              <p:cNvPr id="108" name="文本框 107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7281202" y="2020916"/>
                <a:ext cx="5986145" cy="3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---</a:t>
                </a:r>
                <a:endParaRPr lang="en-US" altLang="zh-C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grpSp>
          <p:nvGrpSpPr>
            <p:cNvPr id="109" name="组合 108"/>
            <p:cNvGrpSpPr/>
            <p:nvPr/>
          </p:nvGrpSpPr>
          <p:grpSpPr>
            <a:xfrm>
              <a:off x="9426" y="7333"/>
              <a:ext cx="9405" cy="1320"/>
              <a:chOff x="7281202" y="1489421"/>
              <a:chExt cx="5972175" cy="838225"/>
            </a:xfrm>
          </p:grpSpPr>
          <p:sp>
            <p:nvSpPr>
              <p:cNvPr id="110" name="文本框 10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7281202" y="1489421"/>
                <a:ext cx="5972175" cy="5220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en-US" altLang="zh-CN" sz="2800" b="1" dirty="0">
                    <a:gradFill>
                      <a:gsLst>
                        <a:gs pos="0">
                          <a:schemeClr val="accent1"/>
                        </a:gs>
                        <a:gs pos="81000">
                          <a:schemeClr val="accent1">
                            <a:lumMod val="75000"/>
                          </a:schemeClr>
                        </a:gs>
                      </a:gsLst>
                      <a:lin ang="2700000" scaled="0"/>
                    </a:gra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---</a:t>
                </a:r>
                <a:endParaRPr lang="en-US" altLang="zh-CN" sz="2800" b="1" dirty="0">
                  <a:gradFill>
                    <a:gsLst>
                      <a:gs pos="0">
                        <a:schemeClr val="accent1"/>
                      </a:gs>
                      <a:gs pos="81000">
                        <a:schemeClr val="accent1">
                          <a:lumMod val="75000"/>
                        </a:schemeClr>
                      </a:gs>
                    </a:gsLst>
                    <a:lin ang="2700000" scaled="0"/>
                  </a:gra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  <p:sp>
            <p:nvSpPr>
              <p:cNvPr id="111" name="文本框 11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7281202" y="2020916"/>
                <a:ext cx="5972175" cy="3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---</a:t>
                </a:r>
                <a:endParaRPr lang="zh-CN" altLang="en-US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grpSp>
          <p:nvGrpSpPr>
            <p:cNvPr id="112" name="组合 111"/>
            <p:cNvGrpSpPr/>
            <p:nvPr/>
          </p:nvGrpSpPr>
          <p:grpSpPr>
            <a:xfrm>
              <a:off x="7159" y="2297"/>
              <a:ext cx="1348" cy="6204"/>
              <a:chOff x="5765121" y="1458643"/>
              <a:chExt cx="856107" cy="3939574"/>
            </a:xfrm>
          </p:grpSpPr>
          <p:sp>
            <p:nvSpPr>
              <p:cNvPr id="113" name="文本框 112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5765121" y="1458643"/>
                <a:ext cx="856107" cy="645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3600" b="1" dirty="0">
                    <a:gradFill>
                      <a:gsLst>
                        <a:gs pos="0">
                          <a:schemeClr val="accent1"/>
                        </a:gs>
                        <a:gs pos="81000">
                          <a:schemeClr val="accent1">
                            <a:lumMod val="75000"/>
                          </a:schemeClr>
                        </a:gs>
                      </a:gsLst>
                      <a:lin ang="2700000" scaled="0"/>
                    </a:gradFill>
                    <a:latin typeface="Source Han Serif CN Heavy" panose="02020900000000000000" pitchFamily="18" charset="-122"/>
                    <a:ea typeface="Source Han Serif CN Heavy" panose="02020900000000000000" pitchFamily="18" charset="-122"/>
                  </a:rPr>
                  <a:t>01</a:t>
                </a:r>
                <a:endParaRPr lang="zh-CN" altLang="en-US" sz="3600" b="1" dirty="0">
                  <a:gradFill>
                    <a:gsLst>
                      <a:gs pos="0">
                        <a:schemeClr val="accent1"/>
                      </a:gs>
                      <a:gs pos="81000">
                        <a:schemeClr val="accent1">
                          <a:lumMod val="75000"/>
                        </a:schemeClr>
                      </a:gs>
                    </a:gsLst>
                    <a:lin ang="2700000" scaled="0"/>
                  </a:gradFill>
                  <a:latin typeface="Source Han Serif CN Heavy" panose="02020900000000000000" pitchFamily="18" charset="-122"/>
                  <a:ea typeface="Source Han Serif CN Heavy" panose="02020900000000000000" pitchFamily="18" charset="-122"/>
                </a:endParaRPr>
              </a:p>
            </p:txBody>
          </p:sp>
          <p:sp>
            <p:nvSpPr>
              <p:cNvPr id="114" name="文本框 113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5765121" y="2556770"/>
                <a:ext cx="856107" cy="645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3600" b="1" dirty="0">
                    <a:gradFill>
                      <a:gsLst>
                        <a:gs pos="0">
                          <a:schemeClr val="accent1"/>
                        </a:gs>
                        <a:gs pos="81000">
                          <a:schemeClr val="accent1">
                            <a:lumMod val="75000"/>
                          </a:schemeClr>
                        </a:gs>
                      </a:gsLst>
                      <a:lin ang="2700000" scaled="0"/>
                    </a:gradFill>
                    <a:latin typeface="Source Han Serif CN Heavy" panose="02020900000000000000" pitchFamily="18" charset="-122"/>
                    <a:ea typeface="Source Han Serif CN Heavy" panose="02020900000000000000" pitchFamily="18" charset="-122"/>
                  </a:rPr>
                  <a:t>02</a:t>
                </a:r>
                <a:endParaRPr lang="zh-CN" altLang="en-US" sz="3600" b="1" dirty="0">
                  <a:gradFill>
                    <a:gsLst>
                      <a:gs pos="0">
                        <a:schemeClr val="accent1"/>
                      </a:gs>
                      <a:gs pos="81000">
                        <a:schemeClr val="accent1">
                          <a:lumMod val="75000"/>
                        </a:schemeClr>
                      </a:gs>
                    </a:gsLst>
                    <a:lin ang="2700000" scaled="0"/>
                  </a:gradFill>
                  <a:latin typeface="Source Han Serif CN Heavy" panose="02020900000000000000" pitchFamily="18" charset="-122"/>
                  <a:ea typeface="Source Han Serif CN Heavy" panose="02020900000000000000" pitchFamily="18" charset="-122"/>
                </a:endParaRPr>
              </a:p>
            </p:txBody>
          </p:sp>
          <p:sp>
            <p:nvSpPr>
              <p:cNvPr id="115" name="文本框 114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5765121" y="3654897"/>
                <a:ext cx="856107" cy="645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3600" b="1" dirty="0">
                    <a:gradFill>
                      <a:gsLst>
                        <a:gs pos="0">
                          <a:schemeClr val="accent1"/>
                        </a:gs>
                        <a:gs pos="81000">
                          <a:schemeClr val="accent1">
                            <a:lumMod val="75000"/>
                          </a:schemeClr>
                        </a:gs>
                      </a:gsLst>
                      <a:lin ang="2700000" scaled="0"/>
                    </a:gradFill>
                    <a:latin typeface="Source Han Serif CN Heavy" panose="02020900000000000000" pitchFamily="18" charset="-122"/>
                    <a:ea typeface="Source Han Serif CN Heavy" panose="02020900000000000000" pitchFamily="18" charset="-122"/>
                  </a:rPr>
                  <a:t>03</a:t>
                </a:r>
                <a:endParaRPr lang="zh-CN" altLang="en-US" sz="3600" b="1" dirty="0">
                  <a:gradFill>
                    <a:gsLst>
                      <a:gs pos="0">
                        <a:schemeClr val="accent1"/>
                      </a:gs>
                      <a:gs pos="81000">
                        <a:schemeClr val="accent1">
                          <a:lumMod val="75000"/>
                        </a:schemeClr>
                      </a:gs>
                    </a:gsLst>
                    <a:lin ang="2700000" scaled="0"/>
                  </a:gradFill>
                  <a:latin typeface="Source Han Serif CN Heavy" panose="02020900000000000000" pitchFamily="18" charset="-122"/>
                  <a:ea typeface="Source Han Serif CN Heavy" panose="02020900000000000000" pitchFamily="18" charset="-122"/>
                </a:endParaRPr>
              </a:p>
            </p:txBody>
          </p:sp>
          <p:sp>
            <p:nvSpPr>
              <p:cNvPr id="116" name="文本框 115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5765121" y="4753023"/>
                <a:ext cx="856107" cy="645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3600" b="1" dirty="0">
                    <a:gradFill>
                      <a:gsLst>
                        <a:gs pos="0">
                          <a:schemeClr val="accent1"/>
                        </a:gs>
                        <a:gs pos="81000">
                          <a:schemeClr val="accent1">
                            <a:lumMod val="75000"/>
                          </a:schemeClr>
                        </a:gs>
                      </a:gsLst>
                      <a:lin ang="2700000" scaled="0"/>
                    </a:gradFill>
                    <a:latin typeface="Source Han Serif CN Heavy" panose="02020900000000000000" pitchFamily="18" charset="-122"/>
                    <a:ea typeface="Source Han Serif CN Heavy" panose="02020900000000000000" pitchFamily="18" charset="-122"/>
                  </a:rPr>
                  <a:t>04</a:t>
                </a:r>
                <a:endParaRPr lang="zh-CN" altLang="en-US" sz="3600" b="1" dirty="0">
                  <a:gradFill>
                    <a:gsLst>
                      <a:gs pos="0">
                        <a:schemeClr val="accent1"/>
                      </a:gs>
                      <a:gs pos="81000">
                        <a:schemeClr val="accent1">
                          <a:lumMod val="75000"/>
                        </a:schemeClr>
                      </a:gs>
                    </a:gsLst>
                    <a:lin ang="2700000" scaled="0"/>
                  </a:gradFill>
                  <a:latin typeface="Source Han Serif CN Heavy" panose="02020900000000000000" pitchFamily="18" charset="-122"/>
                  <a:ea typeface="Source Han Serif CN Heavy" panose="02020900000000000000" pitchFamily="18" charset="-122"/>
                </a:endParaRPr>
              </a:p>
            </p:txBody>
          </p:sp>
        </p:grpSp>
      </p:grpSp>
      <p:grpSp>
        <p:nvGrpSpPr>
          <p:cNvPr id="124" name="组合 123"/>
          <p:cNvGrpSpPr/>
          <p:nvPr/>
        </p:nvGrpSpPr>
        <p:grpSpPr>
          <a:xfrm>
            <a:off x="-42346" y="-14426"/>
            <a:ext cx="3776308" cy="6872882"/>
            <a:chOff x="-196" y="-24"/>
            <a:chExt cx="6238" cy="10880"/>
          </a:xfrm>
        </p:grpSpPr>
        <p:sp>
          <p:nvSpPr>
            <p:cNvPr id="125" name="矩形 124"/>
            <p:cNvSpPr/>
            <p:nvPr/>
          </p:nvSpPr>
          <p:spPr>
            <a:xfrm>
              <a:off x="-196" y="-24"/>
              <a:ext cx="6038" cy="1087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8100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6" name="矩形 125"/>
            <p:cNvSpPr/>
            <p:nvPr/>
          </p:nvSpPr>
          <p:spPr>
            <a:xfrm>
              <a:off x="5823" y="0"/>
              <a:ext cx="219" cy="1085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28" name="组合 127"/>
            <p:cNvGrpSpPr/>
            <p:nvPr/>
          </p:nvGrpSpPr>
          <p:grpSpPr>
            <a:xfrm>
              <a:off x="2564" y="1862"/>
              <a:ext cx="1112" cy="4024"/>
              <a:chOff x="1961831" y="1182635"/>
              <a:chExt cx="705931" cy="2555486"/>
            </a:xfrm>
          </p:grpSpPr>
          <p:sp>
            <p:nvSpPr>
              <p:cNvPr id="129" name="文本框 128"/>
              <p:cNvSpPr txBox="1"/>
              <p:nvPr/>
            </p:nvSpPr>
            <p:spPr>
              <a:xfrm>
                <a:off x="1961831" y="1182635"/>
                <a:ext cx="643319" cy="2555486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p>
                <a:pPr algn="dist"/>
                <a:r>
                  <a:rPr lang="en-US" altLang="zh-CN" sz="2800" dirty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rPr>
                  <a:t>CONTENTS</a:t>
                </a:r>
                <a:endParaRPr lang="zh-CN" altLang="en-US" sz="2800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cxnSp>
            <p:nvCxnSpPr>
              <p:cNvPr id="130" name="直接连接符 129"/>
              <p:cNvCxnSpPr/>
              <p:nvPr/>
            </p:nvCxnSpPr>
            <p:spPr>
              <a:xfrm>
                <a:off x="2667762" y="1266825"/>
                <a:ext cx="0" cy="514983"/>
              </a:xfrm>
              <a:prstGeom prst="line">
                <a:avLst/>
              </a:prstGeom>
              <a:ln w="38100" cap="rnd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1" name="文本框 130"/>
            <p:cNvSpPr txBox="1"/>
            <p:nvPr/>
          </p:nvSpPr>
          <p:spPr>
            <a:xfrm>
              <a:off x="3725" y="3686"/>
              <a:ext cx="1979" cy="345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pPr algn="dist"/>
              <a:r>
                <a:rPr lang="zh-CN" altLang="en-US" sz="6600" b="1" dirty="0">
                  <a:gradFill>
                    <a:gsLst>
                      <a:gs pos="0">
                        <a:schemeClr val="accent1">
                          <a:lumMod val="20000"/>
                          <a:lumOff val="80000"/>
                        </a:schemeClr>
                      </a:gs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lin ang="2700000" scaled="0"/>
                  </a:gradFill>
                  <a:latin typeface="Source Han Serif CN Heavy" panose="02020900000000000000" pitchFamily="18" charset="-122"/>
                  <a:ea typeface="Source Han Serif CN Heavy" panose="02020900000000000000" pitchFamily="18" charset="-122"/>
                </a:rPr>
                <a:t>目录</a:t>
              </a:r>
              <a:endParaRPr lang="zh-CN" altLang="en-US" sz="6600" b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  <a:latin typeface="Source Han Serif CN Heavy" panose="02020900000000000000" pitchFamily="18" charset="-122"/>
                <a:ea typeface="Source Han Serif CN Heavy" panose="02020900000000000000" pitchFamily="18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837556" y="179"/>
            <a:ext cx="3543115" cy="6857643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20"/>
            </p:custDataLst>
          </p:nvPr>
        </p:nvSpPr>
        <p:spPr>
          <a:xfrm>
            <a:off x="3962151" y="7162856"/>
            <a:ext cx="8000583" cy="380980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利用率与长宽比</a:t>
            </a:r>
            <a:endParaRPr sz="28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5528" y="1078992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两个口径要分清</a:t>
            </a:r>
            <a:endParaRPr sz="14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709160" cy="4846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Total Util = (Σ单元+Σ宏) / Core 面积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Effective Util 扣除 blockage/halo，工具多报此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经验初值 0.5–0.8，看 macro/拥塞/裕量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目标利用率 ≠ placement 后局部密度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长宽比 H/W ≈ 1 最利于布线与时钟树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长宽比约定各工具可能相反，以手册为准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f04_uti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575143"/>
            <a:ext cx="6263640" cy="47592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55664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24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Floorplan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标准单元行 / site / 翻转共享供电轨</a:t>
            </a:r>
            <a:endParaRPr sz="28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5528" y="1078992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面积更省的小机关</a:t>
            </a:r>
            <a:endParaRPr sz="14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709160" cy="4846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Row：等高水平行；行高=库单元高度(9T/7T)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行高 ≈ track 数 × M2 pitch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Site：行内最小放置栅格，定义于 LEF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单元宽度必须是 site 宽度的整数倍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相邻行镜像翻转(FS) → 同名轨落在行边界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上下两行共享同名轨 → 供电轨条数减半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f05_row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575143"/>
            <a:ext cx="6263640" cy="47592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55664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24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Floorplan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宏单元摆放原则</a:t>
            </a:r>
            <a:endParaRPr sz="28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5528" y="1078992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Macro Placement</a:t>
            </a:r>
            <a:endParaRPr sz="14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709160" cy="4846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宏 = SRAM/PLL/IP，尺寸大、形状/引脚固定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① 沿边/沿角，中间留给标准单元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② 按数据流就近(flyline、auto placer)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③ 留 channel；或 channel-less 紧贴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④ 引脚朝 core，避免绕过宏本体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⑤ 朝向(8 种)与对称背靠背、规整阵列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f06_macr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676348"/>
            <a:ext cx="6263640" cy="45568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55664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24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Floorplan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halo / keepout 与各类 blockage</a:t>
            </a:r>
            <a:endParaRPr sz="28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5528" y="1078992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给布线留活路</a:t>
            </a:r>
            <a:endParaRPr sz="14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709160" cy="4846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Halo/Keepout：宏四周禁放边带，跟随宏移动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Placement Blockage：固定坐标的禁放区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  hard 全禁 / soft 优化阶段可放 buffer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  partial 按密度上限(≈density screen 不等价)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Routing Blockage：禁某些层布线，可指定层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宏引脚侧加 halo 给 pin access 留空间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f07_hal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609490"/>
            <a:ext cx="6263640" cy="46905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55664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24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Floorplan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物理专用单元：endcap / well-tap / filler</a:t>
            </a:r>
            <a:endParaRPr sz="28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5528" y="1078992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physical-only cell，floorplan 早期就要规划</a:t>
            </a:r>
            <a:endParaRPr sz="14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846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physical-only cell：不参与逻辑，但关乎 row/well 连续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Endcap / Boundary：放每行两端及 macro 边界，保 well/implant 连续与 DRC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Well-tap：周期插入提供 well 偏置接触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  间距须满足 max well-tap distance(DRC)，否则 latch-up 风险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Filler：末期填行内空隙，保供电轨与 well 连续；时机晚于 tap/endcap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0" y="6455664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24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Floorplan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 / Pad、Bump（封装相关）</a:t>
            </a:r>
            <a:endParaRPr sz="28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5528" y="1078992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wire-bond vs flip-chip</a:t>
            </a:r>
            <a:endParaRPr sz="14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709160" cy="4846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Wire-bond：IO Pad 沿 die 四周排成 Pad Ring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考虑信号/电源 Pad 交替、ESD、Corner Pad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Flip-Chip：信号经 Bump 面阵列引出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常配 RDL；是否需要取决封装/凸点布局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bump 对齐 bump map，控间距与比例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f13_iop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752495"/>
            <a:ext cx="6263640" cy="44045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55664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24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Floorplan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引脚分配 Pin Assignment</a:t>
            </a:r>
            <a:endParaRPr sz="28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5528" y="1078992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pin 位置决定块间走线与时序</a:t>
            </a:r>
            <a:endParaRPr sz="14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846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顶层：IO buffer 位置决定芯片对外引脚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块级：partition 端口分配到块边界具体位置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pin 须落合法 routing track、与该层布线方向一致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沿数据流方向分布，避免长绕线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注意 feedthrough：信号穿无关 block 需预留穿通端口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工具可自动优化，关键总线常需手工约束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0" y="6455664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24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Floorplan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电源规划：Ring → Stripe → Mesh → Rails</a:t>
            </a:r>
            <a:endParaRPr sz="28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5528" y="1078992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PG 网络自上而下</a:t>
            </a:r>
            <a:endParaRPr sz="14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709160" cy="4846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Power Ring：绕 core/macro 的闭合环(顶层金属)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Power Stripe：横跨 core 的粗金属条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Power Mesh：stripe 纵横交织成网，降等效电阻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Std-cell Rail：沿行的 M1 供电轨(follow-pin)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Special Route(sroute)：连接 ring/stripe/pin/pad 打 via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sroute 范围广，是 PG 成型的关键步骤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f08_pow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676348"/>
            <a:ext cx="6263640" cy="45568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55664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24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Floorplan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IR drop 与 电迁移 EM</a:t>
            </a:r>
            <a:endParaRPr sz="28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5528" y="1078992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签核要过的两关</a:t>
            </a:r>
            <a:endParaRPr sz="14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709160" cy="4846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IR drop：ΔV=I·R，离电源越远压降越大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压降过大 → 时序变差甚至功能失效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预算常为 VDD 的百分之几，静/动分别约束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EM：电流密度 J 过大，金属原子迁移致断/短路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PG 与高翻转信号线的 EM 机理不同，分别评估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签核：Voltus(Cadence)/RedHawk(Ansys)/PrimeRail(Synopsys)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f09_ire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740229"/>
            <a:ext cx="6263640" cy="44291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55664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/ 24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Floorplan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电源门控：power switch / header / footer</a:t>
            </a:r>
            <a:endParaRPr sz="28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5528" y="1078992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对可关断模块做 Power Gating</a:t>
            </a:r>
            <a:endParaRPr sz="14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709160" cy="4846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可关断模块插 Power Switch 实现 Power Gating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Header(PMOS)：门控 VDD—VVDD，更常用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Footer(NMOS)：门控 VVSS—VSS，较少单独用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floorplan 规划 switch 阵列与 enable 菊花链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菊花链分时开启 → 控冲击电流、规划 always-on PG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f14_gat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894" y="1554480"/>
            <a:ext cx="4662651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55664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24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Floorplan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多电压域与 UPF</a:t>
            </a:r>
            <a:endParaRPr sz="28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5528" y="1078992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Multi-Voltage</a:t>
            </a:r>
            <a:endParaRPr sz="14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709160" cy="4846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不同区域不同电压(或可关断) → 省功耗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Level Shifter：跨电压域信号电平转换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Isolation：关断域输出钳位，防下游浮空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Retention FF：关断期间保状态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Always-on Buffer：关断域内接常开电源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UPF(IEEE 1801)/CPF 描述意图，floorplan 落地电压区域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f10_mv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740229"/>
            <a:ext cx="6263640" cy="44291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55664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 / 24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Floorplan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时序预算与模块划分</a:t>
            </a:r>
            <a:endParaRPr sz="28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5528" y="1078992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分而治之</a:t>
            </a:r>
            <a:endParaRPr sz="14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709160" cy="4846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层次化设计按层级切成 Block / partition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把顶层路径约束拆到各 block 边界 → 各自 SDC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预算合理 → 各块独立收敛后顶层收敛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pin 离逻辑越远，块内走线越长、budget 越紧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自动预算：allocate_budgets / deriveTimingBudget / ETM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budget 含 IO delay + 时钟不确定度 + 驱动/负载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f11_budg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711904"/>
            <a:ext cx="6263640" cy="44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55664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 / 24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Floorplan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拥塞 / IR 早期预估与迭代闭环</a:t>
            </a:r>
            <a:endParaRPr sz="28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5528" y="1078992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Floorplan 不是一遍过</a:t>
            </a:r>
            <a:endParaRPr sz="14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709160" cy="4846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拥塞早估：GR 估 GCell 需求/资源 → 拥塞图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全局拥塞 vs 局部 / pin-access 拥塞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热点：macro notch、窄 channel、pin 密集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缓解：降利用率、加宽 channel、partial blockage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IR 早估：静态 PG 分析定位高压降区，加密 mesh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迭代闭环：floorplan → 试布局/GR → 评估 → 回退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f15_lo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3860" y="1554480"/>
            <a:ext cx="5368718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55664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/ 24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Floorplan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 / 输出 与 文件作用</a:t>
            </a:r>
            <a:endParaRPr sz="28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5528" y="1078992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吃什么、吐什么</a:t>
            </a:r>
            <a:endParaRPr sz="14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709160" cy="4846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输入：netlist、LEF、lib、SDC、UPF、预算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输出：带宏摆放+PG+blockage 的 DEF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输出 Floorplan DB(NDM/OA)、可布线性/时序初评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LEF：site/layer/规则/单元抽象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DEF：die/core/row/macro/pin/PG 交换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工具：Synopsys ICC2/FC、Cadence Innovus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f12_i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6777" y="1554480"/>
            <a:ext cx="5202884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55664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 / 24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Floorplan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衡量指标与常见问题</a:t>
            </a:r>
            <a:endParaRPr sz="28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5528" y="1078992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收敛看指标，出问题反查</a:t>
            </a:r>
            <a:endParaRPr sz="14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64207"/>
            <a:ext cx="82296" cy="444398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783080"/>
            <a:ext cx="47548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关键指标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19" y="2377440"/>
            <a:ext cx="4800600" cy="374903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Core Utilization 0.5–0.8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Aspect Ratio ≈ 1.0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Congestion Overflow → 0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WNS / TNS ≥ 0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Static/Dynamic IR：VDD 百分之几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EM margin：满足 foundry 规则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64207"/>
            <a:ext cx="82296" cy="444398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783080"/>
            <a:ext cx="47548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→ 对策</a:t>
            </a:r>
            <a:endParaRPr sz="15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37959" y="2377440"/>
            <a:ext cx="4800600" cy="374903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绕不出 → 降 util / 加宽 channel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时序差 → 重摆 macro / 优 pin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IR 超标 → 加密 mesh / via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EM 违例 → 加宽线 / 并联 via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Pin 拥塞 → 加 halo / 调层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唤醒冲击 → 菊花链分时开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75520" y="6455664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/ 24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Floorplan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EDA 命令速查（ICC2 / Innovus）</a:t>
            </a:r>
            <a:endParaRPr sz="28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5528" y="1078992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选项随版本而异；坑：Innovus margin 四值为 LBRT</a:t>
            </a:r>
            <a:endParaRPr sz="14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64207"/>
            <a:ext cx="82296" cy="444398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783080"/>
            <a:ext cx="47548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Synopsys · ICC2 / Fusion Compiler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19" y="2377440"/>
            <a:ext cx="4846320" cy="3657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E29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initialize_floorplan \</a:t>
            </a:r>
            <a:endParaRPr sz="1150" b="0">
              <a:solidFill>
                <a:srgbClr val="1E29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E29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-core_utilization 0.70 -side_ratio {1 1}</a:t>
            </a:r>
            <a:endParaRPr sz="1150" b="0">
              <a:solidFill>
                <a:srgbClr val="1E29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E29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create_keepout_margin -outer {l b r t}</a:t>
            </a:r>
            <a:endParaRPr sz="1150" b="0">
              <a:solidFill>
                <a:srgbClr val="1E29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E29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create_placement_blockage -type hard/soft/partial</a:t>
            </a:r>
            <a:endParaRPr sz="1150" b="0">
              <a:solidFill>
                <a:srgbClr val="1E29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E29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create_pg_ring/mesh_pattern + compile_pg</a:t>
            </a:r>
            <a:endParaRPr sz="1150" b="0">
              <a:solidFill>
                <a:srgbClr val="1E29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E29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place_pins / set_block_pin_constraints</a:t>
            </a:r>
            <a:endParaRPr sz="1150" b="0">
              <a:solidFill>
                <a:srgbClr val="1E29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E29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create_voltage_area      # multi-VDD domain</a:t>
            </a:r>
            <a:endParaRPr sz="1150" b="0">
              <a:solidFill>
                <a:srgbClr val="1E29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64207"/>
            <a:ext cx="82296" cy="4443983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783080"/>
            <a:ext cx="47548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Cadence · Innovus</a:t>
            </a:r>
            <a:endParaRPr sz="1500" b="1">
              <a:solidFill>
                <a:srgbClr val="14B8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37959" y="2377440"/>
            <a:ext cx="4846320" cy="3657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E29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floorPlan -r 1.0 0.7 &lt;L&gt; &lt;B&gt; &lt;R&gt; &lt;T&gt;</a:t>
            </a:r>
            <a:endParaRPr sz="1150" b="0">
              <a:solidFill>
                <a:srgbClr val="1E29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E29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addHaloToBlock {l b r t}</a:t>
            </a:r>
            <a:endParaRPr sz="1150" b="0">
              <a:solidFill>
                <a:srgbClr val="1E29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E29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createPlaceBlockage -type hard/soft/partial</a:t>
            </a:r>
            <a:endParaRPr sz="1150" b="0">
              <a:solidFill>
                <a:srgbClr val="1E29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E29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addRing / addStripe / sroute</a:t>
            </a:r>
            <a:endParaRPr sz="1150" b="0">
              <a:solidFill>
                <a:srgbClr val="1E29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E29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editPin / assignIoPins</a:t>
            </a:r>
            <a:endParaRPr sz="1150" b="0">
              <a:solidFill>
                <a:srgbClr val="1E29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E29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createPowerDomain        # multi-VDD domain</a:t>
            </a:r>
            <a:endParaRPr sz="1150" b="0">
              <a:solidFill>
                <a:srgbClr val="1E29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E29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defIn != floorPlan  (read DEF vs create)</a:t>
            </a:r>
            <a:endParaRPr sz="1150" b="0">
              <a:solidFill>
                <a:srgbClr val="1E29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75520" y="6455664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 / 24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Floorplan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本章小结</a:t>
            </a:r>
            <a:endParaRPr sz="28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5528" y="1078992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句话带走</a:t>
            </a:r>
            <a:endParaRPr sz="14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486400" cy="4846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FP = P&amp;R 第一步，定 die/core/macro/PG/电压域，决定 PPA</a:t>
            </a:r>
            <a:endParaRPr sz="14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几何：总/有效利用率(0.5–0.8)、长宽比≈1、行翻转共享轨</a:t>
            </a:r>
            <a:endParaRPr sz="14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宏：沿边/dataflow/朝向、channel、halo、blockage、专用单元</a:t>
            </a:r>
            <a:endParaRPr sz="14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IO/bump 与 pin：pad ring vs bump array、track/feedthrough</a:t>
            </a:r>
            <a:endParaRPr sz="14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09360" y="1600200"/>
            <a:ext cx="5486400" cy="4846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电源：ring→stripe→mesh→rail→sroute，控 IR/EM、门控</a:t>
            </a:r>
            <a:endParaRPr sz="14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多电压：LS/ISO/retention/always-on/switch，UPF/CPF 落地</a:t>
            </a:r>
            <a:endParaRPr sz="14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时序预算：拆到各 block，pin 与 budget 耦合</a:t>
            </a:r>
            <a:endParaRPr sz="14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迭代闭环：GR 估拥塞、静态 PG 估 IR，回退收敛再进 placement</a:t>
            </a:r>
            <a:endParaRPr sz="14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75520" y="6455664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 / 24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Floorplan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易混淆点 / 面试高频考点</a:t>
            </a:r>
            <a:endParaRPr sz="28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5528" y="1078992"/>
            <a:ext cx="10789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 题课后自测</a:t>
            </a:r>
            <a:endParaRPr sz="14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64207"/>
            <a:ext cx="82296" cy="444398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783080"/>
            <a:ext cx="47548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面试题 1–8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19" y="2377440"/>
            <a:ext cx="4800600" cy="374903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Utilization 过高 vs 过低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Halo vs Placement Blockage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Hard / Soft / Partial Blockage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Placement vs Routing Blockage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Level Shifter vs Isolation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Retention FF vs Always-on Buffer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Header vs Footer Switch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IR Drop vs EM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64207"/>
            <a:ext cx="82296" cy="444398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783080"/>
            <a:ext cx="47548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面试题 9–16</a:t>
            </a:r>
            <a:endParaRPr sz="15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37959" y="2377440"/>
            <a:ext cx="4800600" cy="374903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Ring/Stripe/Mesh/Rail/sroute 区别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Flylines 的作用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Core Util vs Placement Density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UPF vs CPF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Aspect Ratio 为何偏好 1.0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为什么相邻行要翻转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defIn vs floorPlan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 签核工具厂商归属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75520" y="6455664"/>
            <a:ext cx="2011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 / 24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Floorplan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43200"/>
            <a:ext cx="146304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06040"/>
            <a:ext cx="1005840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 · Thanks</a:t>
            </a:r>
            <a:endParaRPr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3566160"/>
            <a:ext cx="10058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下一讲：Placement 布局（DVD Lec 7）</a:t>
            </a:r>
            <a:endParaRPr sz="18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 J.C  ·  源自 Digital VLSI Design (DVD), Prof. Adam Teman, Bar-Ilan University (83-612)</a:t>
            </a:r>
            <a:endParaRPr sz="11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DIAGRAM_VIRTUALLY_FRAME" val="{&quot;height&quot;:394,&quot;left&quot;:345.93015748031496,&quot;top&quot;:89,&quot;width&quot;:607.4486194043847}"/>
</p:tagLst>
</file>

<file path=ppt/tags/tag2.xml><?xml version="1.0" encoding="utf-8"?>
<p:tagLst xmlns:p="http://schemas.openxmlformats.org/presentationml/2006/main">
  <p:tag name="KSO_WM_DIAGRAM_VIRTUALLY_FRAME" val="{&quot;height&quot;:394,&quot;left&quot;:345.93015748031496,&quot;top&quot;:89,&quot;width&quot;:607.4486194043847}"/>
</p:tagLst>
</file>

<file path=ppt/tags/tag3.xml><?xml version="1.0" encoding="utf-8"?>
<p:tagLst xmlns:p="http://schemas.openxmlformats.org/presentationml/2006/main">
  <p:tag name="KSO_WM_DIAGRAM_VIRTUALLY_FRAME" val="{&quot;height&quot;:394,&quot;left&quot;:345.93015748031496,&quot;top&quot;:89,&quot;width&quot;:607.4486194043847}"/>
</p:tagLst>
</file>

<file path=ppt/tags/tag4.xml><?xml version="1.0" encoding="utf-8"?>
<p:tagLst xmlns:p="http://schemas.openxmlformats.org/presentationml/2006/main">
  <p:tag name="KSO_WM_DIAGRAM_VIRTUALLY_FRAME" val="{&quot;height&quot;:394,&quot;left&quot;:345.93015748031496,&quot;top&quot;:89,&quot;width&quot;:607.4486194043847}"/>
</p:tagLst>
</file>

<file path=ppt/tags/tag5.xml><?xml version="1.0" encoding="utf-8"?>
<p:tagLst xmlns:p="http://schemas.openxmlformats.org/presentationml/2006/main">
  <p:tag name="KSO_WM_DIAGRAM_VIRTUALLY_FRAME" val="{&quot;height&quot;:394,&quot;left&quot;:345.93015748031496,&quot;top&quot;:89,&quot;width&quot;:607.4486194043847}"/>
</p:tagLst>
</file>

<file path=ppt/tags/tag6.xml><?xml version="1.0" encoding="utf-8"?>
<p:tagLst xmlns:p="http://schemas.openxmlformats.org/presentationml/2006/main">
  <p:tag name="KSO_WM_DIAGRAM_VIRTUALLY_FRAME" val="{&quot;height&quot;:394,&quot;left&quot;:345.93015748031496,&quot;top&quot;:89,&quot;width&quot;:607.4486194043847}"/>
</p:tagLst>
</file>

<file path=ppt/tags/tag7.xml><?xml version="1.0" encoding="utf-8"?>
<p:tagLst xmlns:p="http://schemas.openxmlformats.org/presentationml/2006/main">
  <p:tag name="KSO_WM_DIAGRAM_VIRTUALLY_FRAME" val="{&quot;height&quot;:394,&quot;left&quot;:345.93015748031496,&quot;top&quot;:89,&quot;width&quot;:607.4486194043847}"/>
</p:tagLst>
</file>

<file path=ppt/tags/tag8.xml><?xml version="1.0" encoding="utf-8"?>
<p:tagLst xmlns:p="http://schemas.openxmlformats.org/presentationml/2006/main">
  <p:tag name="KSO_WM_DIAGRAM_VIRTUALLY_FRAME" val="{&quot;height&quot;:394,&quot;left&quot;:345.93015748031496,&quot;top&quot;:89,&quot;width&quot;:607.4486194043847}"/>
</p:tagLst>
</file>

<file path=ppt/tags/tag9.xml><?xml version="1.0" encoding="utf-8"?>
<p:tagLst xmlns:p="http://schemas.openxmlformats.org/presentationml/2006/main">
  <p:tag name="KSO_WM_DIAGRAM_VIRTUALLY_FRAME" val="{&quot;height&quot;:394,&quot;left&quot;:345.93015748031496,&quot;top&quot;:89,&quot;width&quot;:607.4486194043847}"/>
</p:tagLst>
</file>

<file path=ppt/tags/tag10.xml><?xml version="1.0" encoding="utf-8"?>
<p:tagLst xmlns:p="http://schemas.openxmlformats.org/presentationml/2006/main">
  <p:tag name="KSO_WM_DIAGRAM_VIRTUALLY_FRAME" val="{&quot;height&quot;:394,&quot;left&quot;:345.93015748031496,&quot;top&quot;:89,&quot;width&quot;:607.4486194043847}"/>
</p:tagLst>
</file>

<file path=ppt/tags/tag11.xml><?xml version="1.0" encoding="utf-8"?>
<p:tagLst xmlns:p="http://schemas.openxmlformats.org/presentationml/2006/main">
  <p:tag name="KSO_WM_DIAGRAM_VIRTUALLY_FRAME" val="{&quot;height&quot;:394,&quot;left&quot;:345.93015748031496,&quot;top&quot;:89,&quot;width&quot;:607.4486194043847}"/>
</p:tagLst>
</file>

<file path=ppt/tags/tag12.xml><?xml version="1.0" encoding="utf-8"?>
<p:tagLst xmlns:p="http://schemas.openxmlformats.org/presentationml/2006/main">
  <p:tag name="KSO_WM_DIAGRAM_VIRTUALLY_FRAME" val="{&quot;height&quot;:394,&quot;left&quot;:345.93015748031496,&quot;top&quot;:89,&quot;width&quot;:607.4486194043847}"/>
</p:tagLst>
</file>

<file path=ppt/tags/tag13.xml><?xml version="1.0" encoding="utf-8"?>
<p:tagLst xmlns:p="http://schemas.openxmlformats.org/presentationml/2006/main">
  <p:tag name="KSO_WM_DIAGRAM_VIRTUALLY_FRAME" val="{&quot;height&quot;:394,&quot;left&quot;:345.93015748031496,&quot;top&quot;:89,&quot;width&quot;:607.4486194043847}"/>
</p:tagLst>
</file>

<file path=ppt/tags/tag14.xml><?xml version="1.0" encoding="utf-8"?>
<p:tagLst xmlns:p="http://schemas.openxmlformats.org/presentationml/2006/main">
  <p:tag name="KSO_WM_DIAGRAM_VIRTUALLY_FRAME" val="{&quot;height&quot;:394,&quot;left&quot;:345.93015748031496,&quot;top&quot;:89,&quot;width&quot;:607.4486194043847}"/>
</p:tagLst>
</file>

<file path=ppt/tags/tag15.xml><?xml version="1.0" encoding="utf-8"?>
<p:tagLst xmlns:p="http://schemas.openxmlformats.org/presentationml/2006/main">
  <p:tag name="KSO_WM_DIAGRAM_VIRTUALLY_FRAME" val="{&quot;height&quot;:394,&quot;left&quot;:345.93015748031496,&quot;top&quot;:89,&quot;width&quot;:607.4486194043847}"/>
</p:tagLst>
</file>

<file path=ppt/tags/tag16.xml><?xml version="1.0" encoding="utf-8"?>
<p:tagLst xmlns:p="http://schemas.openxmlformats.org/presentationml/2006/main">
  <p:tag name="KSO_WM_DIAGRAM_VIRTUALLY_FRAME" val="{&quot;height&quot;:394,&quot;left&quot;:345.93015748031496,&quot;top&quot;:89,&quot;width&quot;:607.4486194043847}"/>
</p:tagLst>
</file>

<file path=ppt/tags/tag17.xml><?xml version="1.0" encoding="utf-8"?>
<p:tagLst xmlns:p="http://schemas.openxmlformats.org/presentationml/2006/main">
  <p:tag name="KSO_WM_DIAGRAM_VIRTUALLY_FRAME" val="{&quot;height&quot;:394,&quot;left&quot;:345.93015748031496,&quot;top&quot;:89,&quot;width&quot;:607.4486194043847}"/>
</p:tagLst>
</file>

<file path=ppt/tags/tag18.xml><?xml version="1.0" encoding="utf-8"?>
<p:tagLst xmlns:p="http://schemas.openxmlformats.org/presentationml/2006/main">
  <p:tag name="KSO_WM_DIAGRAM_VIRTUALLY_FRAME" val="{&quot;height&quot;:394,&quot;left&quot;:345.93015748031496,&quot;top&quot;:89,&quot;width&quot;:607.4486194043847}"/>
</p:tagLst>
</file>

<file path=ppt/tags/tag19.xml><?xml version="1.0" encoding="utf-8"?>
<p:tagLst xmlns:p="http://schemas.openxmlformats.org/presentationml/2006/main">
  <p:tag name="KSO_WM_DIAGRAM_VIRTUALLY_FRAME" val="{&quot;height&quot;:600.9888188976377,&quot;left&quot;:301.08039370078734,&quot;top&quot;:89,&quot;width&quot;:652.9171653543308}"/>
</p:tagLst>
</file>

<file path=ppt/tags/tag20.xml><?xml version="1.0" encoding="utf-8"?>
<p:tagLst xmlns:p="http://schemas.openxmlformats.org/presentationml/2006/main">
  <p:tag name="COMMONDATA" val="eyJoZGlkIjoiNDgzMGE5ZGMzMTY2MDdiMTE4NTQ0ZTc5NTM0ZDJjN2IifQ=="/>
</p:tagLst>
</file>

<file path=ppt/theme/theme1.xml><?xml version="1.0" encoding="utf-8"?>
<a:theme xmlns:a="http://schemas.openxmlformats.org/drawingml/2006/main" name="3_金砖大赛 工程仿真赛项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4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88266F"/>
      </a:accent1>
      <a:accent2>
        <a:srgbClr val="C7A74B"/>
      </a:accent2>
      <a:accent3>
        <a:srgbClr val="CAACC4"/>
      </a:accent3>
      <a:accent4>
        <a:srgbClr val="806D9B"/>
      </a:accent4>
      <a:accent5>
        <a:srgbClr val="BFBFBF"/>
      </a:accent5>
      <a:accent6>
        <a:srgbClr val="D9D9D9"/>
      </a:accent6>
      <a:hlink>
        <a:srgbClr val="F84D4D"/>
      </a:hlink>
      <a:folHlink>
        <a:srgbClr val="BFBFBF"/>
      </a:folHlink>
    </a:clrScheme>
    <a:fontScheme name="hc40pbhd">
      <a:majorFont>
        <a:latin typeface="思源黑体 CN Regular"/>
        <a:ea typeface="思源黑体 CN Regular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4">
    <a:dk1>
      <a:srgbClr val="000000"/>
    </a:dk1>
    <a:lt1>
      <a:srgbClr val="FFFFFF"/>
    </a:lt1>
    <a:dk2>
      <a:srgbClr val="778495"/>
    </a:dk2>
    <a:lt2>
      <a:srgbClr val="F0F0F0"/>
    </a:lt2>
    <a:accent1>
      <a:srgbClr val="88266F"/>
    </a:accent1>
    <a:accent2>
      <a:srgbClr val="C7A74B"/>
    </a:accent2>
    <a:accent3>
      <a:srgbClr val="CAACC4"/>
    </a:accent3>
    <a:accent4>
      <a:srgbClr val="806D9B"/>
    </a:accent4>
    <a:accent5>
      <a:srgbClr val="BFBFBF"/>
    </a:accent5>
    <a:accent6>
      <a:srgbClr val="D9D9D9"/>
    </a:accent6>
    <a:hlink>
      <a:srgbClr val="F84D4D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5189</Words>
  <Application>WPS 演示</Application>
  <PresentationFormat>宽屏</PresentationFormat>
  <Paragraphs>353</Paragraphs>
  <Slides>21</Slides>
  <Notes>27</Notes>
  <HiddenSlides>0</HiddenSlides>
  <MMClips>1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42" baseType="lpstr">
      <vt:lpstr>Arial</vt:lpstr>
      <vt:lpstr>宋体</vt:lpstr>
      <vt:lpstr>Wingdings</vt:lpstr>
      <vt:lpstr>Helvetica Neue Medium</vt:lpstr>
      <vt:lpstr>Helvetica Neue</vt:lpstr>
      <vt:lpstr>Helvetica Neue Light</vt:lpstr>
      <vt:lpstr>Times New Roman</vt:lpstr>
      <vt:lpstr>黑体</vt:lpstr>
      <vt:lpstr>Source Han Serif CN Heavy</vt:lpstr>
      <vt:lpstr>Arial</vt:lpstr>
      <vt:lpstr>微软雅黑</vt:lpstr>
      <vt:lpstr>等线</vt:lpstr>
      <vt:lpstr>Helvetica Neue</vt:lpstr>
      <vt:lpstr>FZDaHei-B02S</vt:lpstr>
      <vt:lpstr>Arial Unicode MS</vt:lpstr>
      <vt:lpstr>Calibri</vt:lpstr>
      <vt:lpstr>Consolas</vt:lpstr>
      <vt:lpstr>思源黑体 CN Regular</vt:lpstr>
      <vt:lpstr>Arial Black</vt:lpstr>
      <vt:lpstr>3_金砖大赛 工程仿真赛项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量子点的合成与性能调控</dc:title>
  <dc:creator>J.C</dc:creator>
  <cp:lastModifiedBy>邵东一中_张锦程</cp:lastModifiedBy>
  <cp:revision>3072</cp:revision>
  <dcterms:created xsi:type="dcterms:W3CDTF">2020-07-17T14:59:00Z</dcterms:created>
  <dcterms:modified xsi:type="dcterms:W3CDTF">2026-06-23T07:55:44Z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2020-08-13T16:00:00Z</vt:filetime>
  </property>
  <property fmtid="{D5CDD505-2E9C-101B-9397-08002B2CF9AE}" pid="3" name="Creator">
    <vt:lpwstr>WPS 演示</vt:lpwstr>
  </property>
  <property fmtid="{D5CDD505-2E9C-101B-9397-08002B2CF9AE}" pid="4" name="LastSaved">
    <vt:filetime>2020-08-15T16:00:00Z</vt:filetime>
  </property>
  <property fmtid="{D5CDD505-2E9C-101B-9397-08002B2CF9AE}" pid="5" name="KSOProductBuildVer">
    <vt:lpwstr>2052-12.1.0.23542</vt:lpwstr>
  </property>
  <property fmtid="{D5CDD505-2E9C-101B-9397-08002B2CF9AE}" pid="6" name="ICV">
    <vt:lpwstr>6C3EEEB3C1F84FED891218E4B4BE1E74_13</vt:lpwstr>
  </property>
</Properties>
</file>