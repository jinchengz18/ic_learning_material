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5943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32588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数字 IC 后端 · 从 RTL 到 GDS · DVD Lecture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40280"/>
            <a:ext cx="1060704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Floorplan 布图规划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61188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把逻辑网表落成可实现的物理骨架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4389120"/>
            <a:ext cx="3474720" cy="41148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645152"/>
            <a:ext cx="104241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14E0A"/>
                </a:solidFill>
                <a:latin typeface="Microsoft YaHei"/>
                <a:ea typeface="Microsoft YaHei"/>
                <a:cs typeface="Microsoft YaHei"/>
              </a:rPr>
              <a:t>一步错，步步错 —— Floorplan 决定 PPA 上限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6263640"/>
            <a:ext cx="106070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整理 J.C  ·  源自 Digital VLSI Design (DVD), Prof. Adam Teman, Bar-Ilan University (83-612)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本讲导览 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按工程决策顺序展开的五章</a:t>
            </a:r>
          </a:p>
        </p:txBody>
      </p:sp>
      <p:sp>
        <p:nvSpPr>
          <p:cNvPr id="4" name="Oval 3"/>
          <p:cNvSpPr/>
          <p:nvPr/>
        </p:nvSpPr>
        <p:spPr>
          <a:xfrm>
            <a:off x="868680" y="1874519"/>
            <a:ext cx="420624" cy="420624"/>
          </a:xfrm>
          <a:prstGeom prst="ellipse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53895" y="1819655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认识 Floorplan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53895" y="2240279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定位、目标、输入输出与导入前提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2935224"/>
            <a:ext cx="420624" cy="420624"/>
          </a:xfrm>
          <a:prstGeom prst="ellipse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53895" y="2880360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几何与空间约束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53895" y="3300984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尺寸、利用率、宏、区域与阻挡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3995927"/>
            <a:ext cx="420624" cy="420624"/>
          </a:xfrm>
          <a:prstGeom prst="ellipse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3895" y="3941063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层次化接口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53895" y="4361688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扁平/层次、时序预算、引脚与穿通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0" y="1874519"/>
            <a:ext cx="420624" cy="420624"/>
          </a:xfrm>
          <a:prstGeom prst="ellipse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819655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电源规划与完整性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86016" y="2240279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PDN、IR/EM、电源网格与宏摆放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0" y="2935224"/>
            <a:ext cx="420624" cy="420624"/>
          </a:xfrm>
          <a:prstGeom prst="ellipse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6016" y="2880360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工具流程与收束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3300984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Innovus 流程、判断一个好 Floorplan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5742432"/>
            <a:ext cx="10058400" cy="548640"/>
          </a:xfrm>
          <a:prstGeom prst="roundRect">
            <a:avLst/>
          </a:prstGeom>
          <a:solidFill>
            <a:srgbClr val="F6E8D5"/>
          </a:solidFill>
          <a:ln w="12700">
            <a:solidFill>
              <a:srgbClr val="E4C7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861304"/>
            <a:ext cx="9692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8A5212"/>
                </a:solidFill>
                <a:latin typeface="Microsoft YaHei"/>
                <a:ea typeface="Microsoft YaHei"/>
                <a:cs typeface="Microsoft YaHei"/>
              </a:rPr>
              <a:t>主线：Floorplan 决定后端天花板，是“试布局→评估→回退”的迭代闭环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3FD33110-F40A-4459-BB9B-845566F3AD4D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Microsoft YaHei"/>
                <a:ea typeface="Microsoft YaHei"/>
                <a:cs typeface="Microsoft YaHei"/>
              </a:rPr>
              <a:t>CHAPTER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认识 Floorplan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从逻辑网表到物理骨架，做后端第一层承诺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1.1 从逻辑网表到物理骨架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4507991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416551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1.2 沿主线反查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4983479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892040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1.3 Floorplan 的目标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09160" y="5458968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5367528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1.4 全芯片设计视角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5934455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5843016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1.5 输入、输出与导入前提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1.1 从逻辑网表到物理骨架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进入物理世界的第一层承诺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第1章 · 认识 Floorplan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综合后的门级网表只说明实例与连接，不含任何物理位置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Floorplan 把逻辑网表落成可实现的物理骨架，至少包括：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晶粒 die 边界与核心区 core；IO / 焊盘 / 凸点的大致位置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硬宏的位置、朝向与固定状态；标准单元可放置区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电源环 / 条带 / 网格 / 供电轨；阻挡 / 留边 / 区域约束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此阶段改动成本低，签核阶段再改则牵一发而动全身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7B2F862D-C701-4A32-886D-91D45049BCE6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1.2 沿主线反查：现象 → 优先方向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遇到问题沿同一条路径排查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第1章 · 认识 Floorplan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63540"/>
                <a:gridCol w="5463540"/>
              </a:tblGrid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现象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优先反查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布线拥塞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利用率、宏通道、引脚可达性、布线阻挡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时序变差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宏单元 / 引脚位置、层次化时序预算、长绕线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IR 压降超标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电源焊盘、电源网格、过孔（via）、高功耗宏单元位置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EM 风险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电流密度、金属宽度、过孔阵列、高功耗集中区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4FF03DF9-FF25-48D5-98B4-75648E173776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1.3 Floorplan 的目标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本质是逻辑→物理的映射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第1章 · 认识 Floorplan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①  映射：netlist（谁连谁）→ floorplan（谁放哪、怎么连、怎么供电）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②  同时服务三个目标：减小芯片面积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③  减小关键路径延迟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④  减小布线拥塞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⑤  三者天然冲突：压面积→拥塞，留宽通道→浪费，强网格→抢信号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⑥  因此是面积/时序/拥塞/供电的第一轮工程取舍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32120" y="1719072"/>
            <a:ext cx="105156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逻辑综合</a:t>
            </a:r>
          </a:p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Synth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30568" y="1719072"/>
            <a:ext cx="1051560" cy="658368"/>
          </a:xfrm>
          <a:prstGeom prst="roundRect">
            <a:avLst>
              <a:gd name="adj" fmla="val 12000"/>
            </a:avLst>
          </a:prstGeom>
          <a:solidFill>
            <a:srgbClr val="B6CCF2"/>
          </a:solidFill>
          <a:ln w="19050">
            <a:solidFill>
              <a:srgbClr val="1E5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5307A"/>
                </a:solidFill>
                <a:latin typeface="Microsoft YaHei"/>
                <a:ea typeface="Microsoft YaHei"/>
                <a:cs typeface="Microsoft YaHei"/>
              </a:rPr>
              <a:t>布图规划</a:t>
            </a:r>
          </a:p>
          <a:p>
            <a:pPr algn="ctr"/>
            <a:r>
              <a:rPr sz="1200" b="1">
                <a:solidFill>
                  <a:srgbClr val="15307A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29016" y="1719072"/>
            <a:ext cx="105156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布局</a:t>
            </a:r>
          </a:p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Place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27463" y="1719072"/>
            <a:ext cx="105156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时钟树</a:t>
            </a:r>
          </a:p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CTS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25912" y="1719072"/>
            <a:ext cx="105156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布线</a:t>
            </a:r>
          </a:p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Route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77840" y="3246120"/>
            <a:ext cx="2926080" cy="868680"/>
          </a:xfrm>
          <a:prstGeom prst="roundRect">
            <a:avLst>
              <a:gd name="adj" fmla="val 12000"/>
            </a:avLst>
          </a:prstGeom>
          <a:solidFill>
            <a:srgbClr val="D4C2E5"/>
          </a:solidFill>
          <a:ln w="19050">
            <a:solidFill>
              <a:srgbClr val="461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2C0E48"/>
                </a:solidFill>
                <a:latin typeface="Microsoft YaHei"/>
                <a:ea typeface="Microsoft YaHei"/>
                <a:cs typeface="Microsoft YaHei"/>
              </a:rPr>
              <a:t>① die / core 几何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32520" y="3246120"/>
            <a:ext cx="2926080" cy="86868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② 宏摆放 &amp; 朝向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77840" y="4297680"/>
            <a:ext cx="2926080" cy="868680"/>
          </a:xfrm>
          <a:prstGeom prst="roundRect">
            <a:avLst>
              <a:gd name="adj" fmla="val 12000"/>
            </a:avLst>
          </a:prstGeom>
          <a:solidFill>
            <a:srgbClr val="F6CD9E"/>
          </a:solidFill>
          <a:ln w="19050">
            <a:solidFill>
              <a:srgbClr val="D14E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7E2E07"/>
                </a:solidFill>
                <a:latin typeface="Microsoft YaHei"/>
                <a:ea typeface="Microsoft YaHei"/>
                <a:cs typeface="Microsoft YaHei"/>
              </a:rPr>
              <a:t>③ 电源规划 PG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32520" y="4297680"/>
            <a:ext cx="2926080" cy="868680"/>
          </a:xfrm>
          <a:prstGeom prst="roundRect">
            <a:avLst>
              <a:gd name="adj" fmla="val 12000"/>
            </a:avLst>
          </a:prstGeom>
          <a:solidFill>
            <a:srgbClr val="E6ADAD"/>
          </a:solidFill>
          <a:ln w="19050">
            <a:solidFill>
              <a:srgbClr val="B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7E1414"/>
                </a:solidFill>
                <a:latin typeface="Microsoft YaHei"/>
                <a:ea typeface="Microsoft YaHei"/>
                <a:cs typeface="Microsoft YaHei"/>
              </a:rPr>
              <a:t>④ 多电压 / blockage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0" y="2048256"/>
            <a:ext cx="246888" cy="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882127" y="2048256"/>
            <a:ext cx="246889" cy="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180576" y="2048256"/>
            <a:ext cx="246887" cy="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479024" y="2048256"/>
            <a:ext cx="246888" cy="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577840" y="1435608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Floorplan 在 PnR 流程中的位置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0" y="2697480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Floorplan 主要任务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F53ACA2C-044D-442A-9E35-20E8312444B5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1.4 全芯片设计视角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floorplan 要同时回答的 8 类问题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第1章 · 认识 Floorplan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63540"/>
                <a:gridCol w="5463540"/>
              </a:tblGrid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对象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Floorplan 阶段要回答的问题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芯片尺寸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晶粒 / 模块有多大，长宽比如何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核心放置区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标准单元可放置区在哪里，利用率多少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对外接口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IO 焊盘 / 凸点 / 封装引脚如何对应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Hard IP / Macros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SRAM、ROM、PLL、模拟 IP 等硬块放在哪里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电源传输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电源焊盘数量与位置，电源网格 / 环 / 条带怎么建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多电压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电源域、电压岛、always-on 资源如何预留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时钟方案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时钟分布是否需要特殊通道或宏单元位置配合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扁平 / 层次化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整颗一次实现，还是切成多个模块实现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A9E1E454-C254-4337-9D8E-47C9B598418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1.5 输入、输出与导入前提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吃什么，吐出可继续用的数据库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第1章 · 认识 Floorplan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输入：设计网表、面积需求、电源需求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输入：时序约束、物理分区、IO / 宏单元提示（可选，省迭代）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输出：晶粒 / 模块面积，IO 已摆放，硬宏已摆放并固定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输出：电源网格初步设计、必要的电源预布线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输出：标准单元可放置区，阻挡 / 留边 / 区域约束入库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输出：可布线性、时序与电源完整性的早期评估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77840" y="1856232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Netlist (.v)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86600" y="1856232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LEF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2569464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Liberty (.lib)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86600" y="2569464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SDC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77840" y="3282696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UPF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86600" y="3282696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Partition / 预算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72600" y="2194560"/>
            <a:ext cx="2240280" cy="1188720"/>
          </a:xfrm>
          <a:prstGeom prst="roundRect">
            <a:avLst>
              <a:gd name="adj" fmla="val 12000"/>
            </a:avLst>
          </a:prstGeom>
          <a:solidFill>
            <a:srgbClr val="46196B"/>
          </a:solidFill>
          <a:ln w="19050">
            <a:solidFill>
              <a:srgbClr val="461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ICC2 / Innovus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77840" y="4251960"/>
            <a:ext cx="6035040" cy="54864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DEF：宏 + PG + blockage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4910328"/>
            <a:ext cx="6035040" cy="54864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Floorplan DB (NDM/OA)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77840" y="5568696"/>
            <a:ext cx="6035040" cy="548640"/>
          </a:xfrm>
          <a:prstGeom prst="roundRect">
            <a:avLst>
              <a:gd name="adj" fmla="val 12000"/>
            </a:avLst>
          </a:prstGeom>
          <a:solidFill>
            <a:srgbClr val="E6ADAD"/>
          </a:solidFill>
          <a:ln w="19050">
            <a:solidFill>
              <a:srgbClr val="B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7E1414"/>
                </a:solidFill>
                <a:latin typeface="Microsoft YaHei"/>
                <a:ea typeface="Microsoft YaHei"/>
                <a:cs typeface="Microsoft YaHei"/>
              </a:rPr>
              <a:t>可布线性 / 时序初评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595360" y="2743200"/>
            <a:ext cx="777240" cy="45720"/>
          </a:xfrm>
          <a:prstGeom prst="line">
            <a:avLst/>
          </a:prstGeom>
          <a:ln w="19050">
            <a:solidFill>
              <a:srgbClr val="C7CDD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8686800" y="3383280"/>
            <a:ext cx="1783080" cy="82296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577840" y="1600200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3931920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输出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7C52BB60-4858-43A7-9626-98883898E89D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Microsoft YaHei"/>
                <a:ea typeface="Microsoft YaHei"/>
                <a:cs typeface="Microsoft YaHei"/>
              </a:rPr>
              <a:t>CHAPTER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几何与空间约束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尺寸、利用率、宏、区域与阻挡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2.1 IO 环与芯片尺寸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4411326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319886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2.2 利用率与试布线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4790149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698709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2.3 网表唯一化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09160" y="5168972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5077532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2.4 硬宏摆放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5547795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5456355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2.5 布局区域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09160" y="5926618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83480" y="5835178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2.6 阻挡与留边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9160" y="6305441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3480" y="6214001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2.7 布线阻挡与好 Floorplan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2.1 IO 环与芯片尺寸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由外到内 + 核心受限 / 焊盘受限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几何由外到内：Die ＞ IO/Pad Ring ＞ Core ＞（宏 + 标准单元行）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IO 引脚由前端 / 系统 / 封装提出，但物理设计必须参与评审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IO 不随工艺缩小、面积贵；还兼供电，直接影响 IR 与 EM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核心受限：尺寸由逻辑规模 / 宏 / 布线资源决定 → 优化利用率与摆放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焊盘受限：尺寸由 IO 数量 / 焊盘间距 / 封装决定 → 优化 IO 环与协同</a:t>
            </a:r>
          </a:p>
        </p:txBody>
      </p:sp>
      <p:pic>
        <p:nvPicPr>
          <p:cNvPr id="6" name="Picture 5" descr="f03_geo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1540" y="1554480"/>
            <a:ext cx="5873359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0079DE82-EF36-44CF-8CB6-342409976418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2.2 利用率与试布线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两个口径 + 必须试布线验证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Floorplan 阶段的利用率通常指标准单元占核心区面积的比例，常见初值约 70%。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利用率太高会带来布线拥塞、合法化与优化自由度不足、引脚密集处局部拥塞，以及电源网格与信号抢资源；太低则浪费面积、拉长平均互连。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工程上要区分总利用率（含宏）与有效利用率（扣除阻挡、宏留边、禁布区）；但不能只凭利用率定尺寸——完成初始估算后还要跑试布线或全局布线估拥塞，再决定是否放大核心、调综合、移宏或改引脚。</a:t>
            </a:r>
          </a:p>
        </p:txBody>
      </p:sp>
      <p:pic>
        <p:nvPicPr>
          <p:cNvPr id="6" name="Picture 5" descr="f04_ut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75143"/>
            <a:ext cx="6263640" cy="47592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E64BCFDA-D2BD-434E-B449-9893058B7BD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2.3 网表唯一化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物理实现前每个子模块只引用一次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进入物理域前，网表必须唯一化——每个子模块只被引用一次。这是因为物理优化要按实例独立移动、插缓冲器、做优化。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如果两个实例共享同一个模块定义，工具想优化 m1/u1 时就可能同时改变 m2/u1，物理优化边界不清晰。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综合后的网表必须在布局之前完成唯一化：可以由综合工具完成，也可以在设计导入阶段完成。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2194560"/>
            <a:ext cx="1280160" cy="502920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top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23560" y="320040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D4C2E5"/>
          </a:solidFill>
          <a:ln w="19050">
            <a:solidFill>
              <a:srgbClr val="461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2C0E48"/>
                </a:solidFill>
                <a:latin typeface="Microsoft YaHei"/>
                <a:ea typeface="Microsoft YaHei"/>
                <a:cs typeface="Microsoft YaHei"/>
              </a:rPr>
              <a:t>m1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320040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D4C2E5"/>
          </a:solidFill>
          <a:ln w="19050">
            <a:solidFill>
              <a:srgbClr val="461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2C0E48"/>
                </a:solidFill>
                <a:latin typeface="Microsoft YaHei"/>
                <a:ea typeface="Microsoft YaHei"/>
                <a:cs typeface="Microsoft YaHei"/>
              </a:rPr>
              <a:t>m2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4206240"/>
            <a:ext cx="1280160" cy="50292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amod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5212080"/>
            <a:ext cx="1280160" cy="502920"/>
          </a:xfrm>
          <a:prstGeom prst="roundRect">
            <a:avLst>
              <a:gd name="adj" fmla="val 12000"/>
            </a:avLst>
          </a:prstGeom>
          <a:solidFill>
            <a:srgbClr val="E6ADAD"/>
          </a:solidFill>
          <a:ln w="19050">
            <a:solidFill>
              <a:srgbClr val="B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7E1414"/>
                </a:solidFill>
                <a:latin typeface="Microsoft YaHei"/>
                <a:ea typeface="Microsoft YaHei"/>
                <a:cs typeface="Microsoft YaHei"/>
              </a:rPr>
              <a:t>u1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0" y="2194560"/>
            <a:ext cx="1280160" cy="502920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top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320040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D4C2E5"/>
          </a:solidFill>
          <a:ln w="19050">
            <a:solidFill>
              <a:srgbClr val="461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2C0E48"/>
                </a:solidFill>
                <a:latin typeface="Microsoft YaHei"/>
                <a:ea typeface="Microsoft YaHei"/>
                <a:cs typeface="Microsoft YaHei"/>
              </a:rPr>
              <a:t>m1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469880" y="320040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D4C2E5"/>
          </a:solidFill>
          <a:ln w="19050">
            <a:solidFill>
              <a:srgbClr val="461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2C0E48"/>
                </a:solidFill>
                <a:latin typeface="Microsoft YaHei"/>
                <a:ea typeface="Microsoft YaHei"/>
                <a:cs typeface="Microsoft YaHei"/>
              </a:rPr>
              <a:t>m2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420624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amod1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69880" y="420624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amod2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23960" y="521208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E6ADAD"/>
          </a:solidFill>
          <a:ln w="19050">
            <a:solidFill>
              <a:srgbClr val="B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7E1414"/>
                </a:solidFill>
                <a:latin typeface="Microsoft YaHei"/>
                <a:ea typeface="Microsoft YaHei"/>
                <a:cs typeface="Microsoft YaHei"/>
              </a:rPr>
              <a:t>u1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69880" y="521208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E6ADAD"/>
          </a:solidFill>
          <a:ln w="19050">
            <a:solidFill>
              <a:srgbClr val="B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7E1414"/>
                </a:solidFill>
                <a:latin typeface="Microsoft YaHei"/>
                <a:ea typeface="Microsoft YaHei"/>
                <a:cs typeface="Microsoft YaHei"/>
              </a:rPr>
              <a:t>u1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6355080" y="2697480"/>
            <a:ext cx="502920" cy="484631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223760" y="2697480"/>
            <a:ext cx="502919" cy="484631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355080" y="3703320"/>
            <a:ext cx="457200" cy="484632"/>
          </a:xfrm>
          <a:prstGeom prst="line">
            <a:avLst/>
          </a:prstGeom>
          <a:ln w="19050">
            <a:solidFill>
              <a:srgbClr val="BE1E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7269480" y="3703320"/>
            <a:ext cx="457199" cy="484632"/>
          </a:xfrm>
          <a:prstGeom prst="line">
            <a:avLst/>
          </a:prstGeom>
          <a:ln w="19050">
            <a:solidFill>
              <a:srgbClr val="BE1E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040880" y="4709160"/>
            <a:ext cx="0" cy="484632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9555480" y="2697480"/>
            <a:ext cx="502920" cy="484631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424160" y="2697480"/>
            <a:ext cx="502920" cy="484631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418320" y="3703320"/>
            <a:ext cx="0" cy="484632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064240" y="3703320"/>
            <a:ext cx="0" cy="484632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418320" y="4709160"/>
            <a:ext cx="0" cy="484632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1064240" y="4709160"/>
            <a:ext cx="0" cy="484632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394960" y="1645919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7E1414"/>
                </a:solidFill>
                <a:latin typeface="Microsoft YaHei"/>
                <a:ea typeface="Microsoft YaHei"/>
                <a:cs typeface="Microsoft YaHei"/>
              </a:rPr>
              <a:t>非唯一：m1/m2 共享 amod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59" y="1645919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唯一化：各自独立副本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94960" y="5916168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E1414"/>
                </a:solidFill>
                <a:latin typeface="Microsoft YaHei"/>
                <a:ea typeface="Microsoft YaHei"/>
                <a:cs typeface="Microsoft YaHei"/>
              </a:rPr>
              <a:t>改 m1/u1 牵连 m2/u1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59" y="5916168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各实例可独立优化、移动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44A89C8D-5661-48E9-8221-A412247FAC95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2.4 硬宏摆放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把大宏推到边角，留完整大矩形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硬宏 = SRAM/ROM/PLL/模拟 IP：面积大、形状 / 引脚固定、不可拆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沿边 / 沿角摆放，不在核心中心挖洞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按数据流就近，用飞线 flyline 看连接权重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宏间 / 宏与边界留足信号、电源、时钟通道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必要时旋转宏改善引脚可达性，引脚避开窄通道 / 角落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摆好后标记固定；高功耗宏勿放芯片中心太深（供电路径长）</a:t>
            </a:r>
          </a:p>
        </p:txBody>
      </p:sp>
      <p:pic>
        <p:nvPicPr>
          <p:cNvPr id="6" name="Picture 5" descr="f06_mac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76348"/>
            <a:ext cx="6263640" cy="45568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565ABF09-248F-489A-A768-45CC35F85661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2.5 布局区域：表达放置意图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越硬越易局部拥塞，仅用于必要结构性意图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42360"/>
                <a:gridCol w="3642360"/>
                <a:gridCol w="3642360"/>
              </a:tblGrid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类型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含义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强度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软引导 soft guide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希望这些单元聚在一起，但无固定区域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最软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引导区域 guide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尽量放在指定区域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较软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区域约束 region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指定单元必须放该区域，其他单元也可进入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较硬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围栏约束 fence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指定单元必须放该区域，其他单元不可进入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最硬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F7066D71-872D-4D5D-B69E-02D13E244D10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2.6 阻挡与留边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限制放置 + 给布线留活路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布局阻挡限制标准单元摆放，分三种：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hard 完全禁放；soft 初始禁、优化阶段可放 buffer / inverter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partial 限制区域最大密度（例如最多 40%）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留边 halo（padding / keepout）：宏外围一圈空白，改善引脚可达性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关键区别：halo 跟随宏移动，blockage 多为固定坐标</a:t>
            </a:r>
          </a:p>
        </p:txBody>
      </p:sp>
      <p:pic>
        <p:nvPicPr>
          <p:cNvPr id="6" name="Picture 5" descr="f07_ha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09490"/>
            <a:ext cx="6263640" cy="469057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9FC0710A-97AC-492F-9E12-D3078F6E2200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2.7 布线阻挡与好 Floorplan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限制走线 + 图上可见的好特征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布线阻挡限制走线（非摆放），可指定层或层范围（如禁 M1–M3）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用途：保护宏上方特区、给电源预留资源、护噪声敏感模拟区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好 floorplan：保持单个大的核心放置区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大块 RAM 放角落 / 边缘，保留宽布线通道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避免收缩狭窄通道，不让大量引脚对着窄通道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必要时旋转宏改善引脚可达性，引脚不挤在模块角落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用阻挡 / 留边提前保护可布线性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ED8B721C-DA96-46B3-B83C-F791C748C87A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Microsoft YaHei"/>
                <a:ea typeface="Microsoft YaHei"/>
                <a:cs typeface="Microsoft YaHei"/>
              </a:rPr>
              <a:t>CHAPTER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层次化接口与时序预算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扁平 / 层次、时序预算、引脚与穿通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3.1 扁平 vs 层次化设计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4507991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416551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3.2 时序预算与 ILM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4983479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892040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3.3 引脚分配与穿通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3.1 扁平 vs 层次化设计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大芯片切块换运行时间 / 复用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第3章 · 层次化接口与时序预算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扁平流程一次跑完整颗芯片 → 运行时间与内存压力大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层次化把全芯片切成多个模块，各自 P&amp;R，顶层再做全芯片时序 / 验证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优点：EDA 运行更快、内存更少、ECO 更快、利于复用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代价：全芯片时序收敛更难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代价：引脚分配 / 穿通更关键，时序约束预算更复杂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代价：模块抽象 ILM / ETM 需要维护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23560" y="2286000"/>
            <a:ext cx="260604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2834639"/>
            <a:ext cx="1965960" cy="1234440"/>
          </a:xfrm>
          <a:prstGeom prst="roundRect">
            <a:avLst>
              <a:gd name="adj" fmla="val 12000"/>
            </a:avLst>
          </a:prstGeom>
          <a:solidFill>
            <a:srgbClr val="D4C2E5"/>
          </a:solidFill>
          <a:ln w="19050">
            <a:solidFill>
              <a:srgbClr val="461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2C0E48"/>
                </a:solidFill>
                <a:latin typeface="Microsoft YaHei"/>
                <a:ea typeface="Microsoft YaHei"/>
                <a:cs typeface="Microsoft YaHei"/>
              </a:rPr>
              <a:t>整颗芯片</a:t>
            </a:r>
          </a:p>
          <a:p>
            <a:pPr algn="ctr"/>
            <a:r>
              <a:rPr sz="1200" b="1">
                <a:solidFill>
                  <a:srgbClr val="2C0E48"/>
                </a:solidFill>
                <a:latin typeface="Microsoft YaHei"/>
                <a:ea typeface="Microsoft YaHei"/>
                <a:cs typeface="Microsoft YaHei"/>
              </a:rPr>
              <a:t>一次 P&amp;R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2286000"/>
            <a:ext cx="288036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46920" y="2560320"/>
            <a:ext cx="1417320" cy="594360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Top 集成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15400" y="3474720"/>
            <a:ext cx="777240" cy="73152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Blk1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784080" y="3474720"/>
            <a:ext cx="777240" cy="73152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Blk2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652760" y="3474720"/>
            <a:ext cx="777240" cy="73152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Blk3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23560" y="5330952"/>
            <a:ext cx="5989320" cy="84124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层次化省运行时间 / 内存、利于复用；但全芯片时序收敛更难，依赖引脚 / feedthrough / 时序预算 / ILM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9304020" y="3154680"/>
            <a:ext cx="662940" cy="32004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0172700" y="3154680"/>
            <a:ext cx="68580" cy="32004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 flipV="1">
            <a:off x="10515600" y="3154680"/>
            <a:ext cx="525780" cy="32004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280660" y="1801368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2C0E48"/>
                </a:solidFill>
                <a:latin typeface="Microsoft YaHei"/>
                <a:ea typeface="Microsoft YaHei"/>
                <a:cs typeface="Microsoft YaHei"/>
              </a:rPr>
              <a:t>扁平 Flat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26780" y="1801368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层次化 Hierarchical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80660" y="4690872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运行慢 / 内存大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8100" y="4233672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P&amp;R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26780" y="4233672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P&amp;R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95459" y="4233672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P&amp;R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68A6822C-A5D4-4A12-AC37-3288FE17237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3.2 时序预算与 ILM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顶层约束映射到模块边界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第3章 · 层次化接口与时序预算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芯片级约束必须映射成模块级约束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在模块边界建立输入 / 输出延迟、时钟不确定度、负载、驱动单元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预算合理 → 各模块独立收敛后全芯片才容易收敛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预算不合理 → 单模块看似通过，全芯片仍可能失败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ILM 只保留接口相关逻辑、隐藏模块内部细节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ETM 提供抽象时序模型；二者都让全芯片分析更快、更可控</a:t>
            </a:r>
          </a:p>
        </p:txBody>
      </p:sp>
      <p:pic>
        <p:nvPicPr>
          <p:cNvPr id="6" name="Picture 5" descr="f11_bud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11904"/>
            <a:ext cx="6263640" cy="448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C9DD2837-2E52-440B-901A-2FBD65BB6A5E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3.3 引脚分配与穿通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顶层 IO 与模块 pin 影响点不同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第3章 · 层次化接口与时序预算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顶层 IO 摆放决定芯片对外接口位置，影响封装、ESD、电源焊盘与芯片边界；模块级引脚分配则决定层次化模块之间如何连接，影响模块间布线、时序预算、feedthrough 与全芯片收敛。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模块级引脚的约束常包括布线层、引脚间距与尺寸、重叠规则、网络分组、引脚引导区域、数据流方向，以及试布线的边界穿越情况。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在无通道或通道资源紧张的设计中 feedthrough 很关键：若信号从分区 A 经分区 B 到分区 C，而 B 没有 feedthrough，信号可能被迫绕过整个模块。解法是在 B 上生成 feedthrough 引脚 / 网络，把跨越 B 的连接拆成几段。</a:t>
            </a:r>
          </a:p>
        </p:txBody>
      </p:sp>
      <p:pic>
        <p:nvPicPr>
          <p:cNvPr id="6" name="Picture 5" descr="f13_iop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52495"/>
            <a:ext cx="6263640" cy="44045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79E62872-3E29-4E47-8898-97597EB56FF1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Microsoft YaHei"/>
                <a:ea typeface="Microsoft YaHei"/>
                <a:cs typeface="Microsoft YaHei"/>
              </a:rPr>
              <a:t>CHAPTER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电源规划与完整性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PDN、IR / EM、电源网格与宏摆放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4.1 电源规划：功耗与可靠性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4411326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319886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4.2 IR 压降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4790149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698709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4.3 电迁移 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09160" y="5168972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5077532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4.4 PDN 的基本取舍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5547795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5456355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4.5 电源 / 地布线方式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09160" y="5926618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83480" y="5835178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4.6 电源网格创建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9160" y="6305441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3480" y="6214001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4.7 电源网格与宏摆放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4.1 电源规划：功耗与可靠性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PDN 不只是连上 VDD/GND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电源规划要解决的不只是“连上 VDD/GND”，它同时关系到动态功耗、静态漏电、IR 压降、电压跌落、电迁移和自热磨损。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电源分布网络（PDN）需要把电流从焊盘 / 凸点送到晶体管，保持稳定低噪声的电压，提供平均与峰值功耗，为信号提供返回路径，避免电迁移与自热，并合理占用面积与布线资源。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因此电源规划从 floorplan 阶段就开始，而不是等布线之后再补救。</a:t>
            </a:r>
          </a:p>
        </p:txBody>
      </p:sp>
      <p:pic>
        <p:nvPicPr>
          <p:cNvPr id="6" name="Picture 5" descr="f08_po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76348"/>
            <a:ext cx="6263640" cy="45568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826F250-3B01-4D25-B209-3CF86E8B3AEB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4.2 IR 压降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ΔV=I·R，细长低层线扛不住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IR 压降是供电线上的电压下降，ΔV = I·R。芯片电源网格是个巨大网络，工具建立电阻矩阵、结合每个门的平均电流，求解每个节点的电压。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若实际电压低于容差下限，单元延迟会增加、时序可能失败，严重时功能错误。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一个典型估算：1 mm 长、100 nm 宽的 M1 电源轨，方块电阻 0.1 Ω/□ 时线阻约 1000 Ω，承载约 0.1 mA 时 IR 压降可达约 100 mV——细而长的低层电源线无法单独供电，必须用更宽、更厚、更高层、多路径、多过孔的结构。</a:t>
            </a:r>
          </a:p>
        </p:txBody>
      </p:sp>
      <p:pic>
        <p:nvPicPr>
          <p:cNvPr id="6" name="Picture 5" descr="f09_ir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40229"/>
            <a:ext cx="6263640" cy="44291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D9CDA061-8AF7-463F-AD34-D08EE9EBF519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4.3 电迁移 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长期电流密度能不能扛住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EM：电流长期流过导体，电子动量推动金属原子迁移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开路：单根线上形成空洞（void）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短路：相邻线之间桥接（bridging）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RC 改变：即使不开 / 不短路，也可能造成性能退化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IR 偏“瞬时电压够不够”，EM 偏“长期电流密度扛不扛”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二者都与 floorplan 有关：焊盘、高功耗宏位置、网格宽度 / 间距 / 过孔早期就定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F5171AC3-DC9B-455C-9225-35D960FF9EE8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4.4 PDN 的基本取舍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电源越强越可靠，但越抢信号资源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42360"/>
                <a:gridCol w="3642360"/>
                <a:gridCol w="3642360"/>
              </a:tblGrid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选择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好处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代价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更宽电源线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降低电阻与 IR 压降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占用布线轨道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更多电源条带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提供更多电流路径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增加信号拥塞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更多过孔阵列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降低垂直连接电阻与 EM 风险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占用局部布线资源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更靠近电源焊盘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缩短供电路径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可能牺牲数据流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11186BA3-23DE-4388-B82F-4C4EFF0BA1C9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4.5 电源 / 地布线方式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自上而下的六层结构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1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63540"/>
                <a:gridCol w="5463540"/>
              </a:tblGrid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作用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电源焊盘 / 凸点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从封装引入 VDD/VSS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电源环 power ring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围绕芯片 / 核心区 / hard IP 的主干环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电源条带 power stripe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横跨核心区分担电流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电源网格 power mesh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纵横条带互连，降低等效电阻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标准单元供电轨 rail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沿标准单元行连接每个单元的 VDD/VSS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专用布线 special route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连接焊盘 / 环 / 条带 / 引脚 / follow-pin 并打过孔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9C5AE57-49C7-4349-A1E1-0A5FC8CAD4CD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4.6 电源网格创建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在 IR / EM 与布线资源间取舍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本质是在 IR、EM 与布线资源之间取舍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先要功耗预算与初始估算：平均电流、最大电流密度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决定：总体网格结构、是否门控 / 多电压、各域电源焊盘数量与位置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决定：用哪些金属层、条带宽度 / 间距、过孔堆栈占多少轨道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决定：要不要电源环、层次化模块是否需要屏蔽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命令骨架：globalNetConnect → addRing → addStripe → sroute，先做初始电源网络分析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F5ABEDF7-AA18-4B34-BF4E-0E7F9C2A27AE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4.7 电源网格与宏摆放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高功耗宏要看供电路径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高功耗模块摆放不能只看数据流，还要看供电路径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高功耗模块靠近边界电源焊盘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高功耗模块之间不要过度集中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宏通道不只给信号，也给电源条带、过孔、时钟预留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电源焊盘、宏位置与网格密度必须一起迭代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IR 用颜色图找热点；修复常是热点加线 / 加过孔 / 加宽条带 / 移宏</a:t>
            </a:r>
          </a:p>
        </p:txBody>
      </p:sp>
      <p:pic>
        <p:nvPicPr>
          <p:cNvPr id="6" name="Picture 5" descr="f18_pgmac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11904"/>
            <a:ext cx="6263640" cy="448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DAEE518D-4988-4FA4-865C-F0E7E2DF9397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Microsoft YaHei"/>
                <a:ea typeface="Microsoft YaHei"/>
                <a:cs typeface="Microsoft YaHei"/>
              </a:rPr>
              <a:t>CHAPTER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工具流程与调试收束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Innovus 流程、判断一个好 Floorplan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5.1 Innovus 流程：从初始化到阻挡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4507991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416551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5.2 判断一个好 Floorplan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5.1 Innovus 流程：从初始化到阻挡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工具无关的流程骨架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第5章 · 工具流程与调试收束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①  初始化设计：读网表 / LEF / MMMC / SDC / IO 摆放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②  指定布图规划：尺寸、长宽比、目标利用率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③  摆放硬宏：绝对 / 相对坐标，标记固定，定义留边与阻挡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④  定义区域与阻挡：布局区域、布局阻挡、布线阻挡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⑤  定义全局电源网：顶层 VDD/GND 映射到 IP 电源 / 地引脚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⑥  电源环 → 电源网格 → 分配引脚，形成反复调整的闭环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874519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D4C2E5"/>
          </a:solidFill>
          <a:ln w="19050">
            <a:solidFill>
              <a:srgbClr val="461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2C0E4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  <a:p>
            <a:pPr algn="ctr"/>
            <a:r>
              <a:rPr sz="1200" b="1">
                <a:solidFill>
                  <a:srgbClr val="2C0E48"/>
                </a:solidFill>
                <a:latin typeface="Microsoft YaHei"/>
                <a:ea typeface="Microsoft YaHei"/>
                <a:cs typeface="Microsoft YaHei"/>
              </a:rPr>
              <a:t>定 die/macro/PG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784080" y="3611880"/>
            <a:ext cx="1828800" cy="82296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试布局 + GR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525780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E6ADAD"/>
          </a:solidFill>
          <a:ln w="19050">
            <a:solidFill>
              <a:srgbClr val="B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7E1414"/>
                </a:solidFill>
                <a:latin typeface="Microsoft YaHei"/>
                <a:ea typeface="Microsoft YaHei"/>
                <a:cs typeface="Microsoft YaHei"/>
              </a:rPr>
              <a:t>评估</a:t>
            </a:r>
          </a:p>
          <a:p>
            <a:pPr algn="ctr"/>
            <a:r>
              <a:rPr sz="1200" b="1">
                <a:solidFill>
                  <a:srgbClr val="7E1414"/>
                </a:solidFill>
                <a:latin typeface="Microsoft YaHei"/>
                <a:ea typeface="Microsoft YaHei"/>
                <a:cs typeface="Microsoft YaHei"/>
              </a:rPr>
              <a:t>拥塞 / 时序 / IR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3611880"/>
            <a:ext cx="1828800" cy="822960"/>
          </a:xfrm>
          <a:prstGeom prst="roundRect">
            <a:avLst>
              <a:gd name="adj" fmla="val 12000"/>
            </a:avLst>
          </a:prstGeom>
          <a:solidFill>
            <a:srgbClr val="F6CD9E"/>
          </a:solidFill>
          <a:ln w="19050">
            <a:solidFill>
              <a:srgbClr val="D14E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7E2E07"/>
                </a:solidFill>
                <a:latin typeface="Microsoft YaHei"/>
                <a:ea typeface="Microsoft YaHei"/>
                <a:cs typeface="Microsoft YaHei"/>
              </a:rPr>
              <a:t>回退调整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601200" y="2651760"/>
            <a:ext cx="868680" cy="91440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9601200" y="4434840"/>
            <a:ext cx="960120" cy="96012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6720840" y="4480560"/>
            <a:ext cx="868680" cy="91440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6720840" y="2651760"/>
            <a:ext cx="868680" cy="96012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949440" y="3840480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迭代闭环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1554480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收敛后才进详细 Placement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5285E3E6-2A4D-47AD-BF5C-D7CEEB40A442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5.2 判断一个好 Floorplan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让下游布局 / CTS / 布线 / 签核都有路可走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第5章 · 工具流程与调试收束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42360"/>
                <a:gridCol w="3642360"/>
                <a:gridCol w="3642360"/>
              </a:tblGrid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问题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反查方向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常见动作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布线绕不出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利用率、宏通道、引脚可达性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降利用率、拓宽通道、调引脚、改阻挡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时序收不回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宏单元 / 引脚位置、时序预算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按数据流重摆宏，重新预算接口路径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IR 压降超标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电源焊盘、网格、过孔、高功耗宏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加密网格、增加过孔、移动高功耗宏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EM 违例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电流密度、金属宽度、过孔阵列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加宽金属、并联过孔、分散高功耗模块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PG 未连通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全局电源名、宏电源 / 地引脚、专用布线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校正 VDD/GND 命名并补专用布线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654FE9FD-3CB6-4B02-A613-08379A0890F9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附录 · EDA 命令速查（ICC2 / Innovus）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选项随版本而异；坑：Innovus margin 四值为 LBRT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第5章 · 工具流程与调试收束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64207"/>
            <a:ext cx="82296" cy="4443983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Synopsys · ICC2 / Fusion Compiler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2377440"/>
            <a:ext cx="4846320" cy="3657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initialize_floorplan \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  -core_utilization 0.70 -side_ratio {1 1}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create_keepout_margin -outer {l b r t}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create_placement_blockage -type hard/soft/partial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create_pg_ring / mesh_pattern + compile_pg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place_pins / set_block_pin_constraints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create_voltage_area   # multi-VDD domain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64207"/>
            <a:ext cx="82296" cy="4443983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5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D14E0A"/>
                </a:solidFill>
                <a:latin typeface="Microsoft YaHei"/>
                <a:ea typeface="Microsoft YaHei"/>
                <a:cs typeface="Microsoft YaHei"/>
              </a:rPr>
              <a:t>Cadence · Innovus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377440"/>
            <a:ext cx="4846320" cy="3657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floorPlan -r &lt;ar&gt; &lt;util&gt; &lt;L&gt; &lt;B&gt; &lt;R&gt; &lt;T&gt;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addHaloToBlock {l b r t}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createPlaceBlockage -type hard/soft/partial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globalNetConnect VDD -type pgpin -pin VDD -all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addRing / addStripe / sroute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editPin / assignIoPins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defIn != floorPlan  (read DEF vs create)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19D6D63A-F81A-4294-8E30-6DDCA72C2DC3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参考文献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本讲内容与图示来源（引用文献插图时图下另标“来源：…”）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第5章 · 工具流程与调试收束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972800" cy="4754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[1]  Adam Teman. Digital VLSI Design (DVD), Lecture 6 — Import Design and Floorplan. Bar-Ilan University, Course 83-612. https://enicslabs.com/academic-courses/dvd-english/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[2]  J. M. Rabaey, A. Chandrakasan, B. Nikolić. Digital Integrated Circuits: A Design Perspective. Prentice Hall.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[3]  N. H. E. Weste, D. M. Harris. CMOS VLSI Design: A Circuits and Systems Perspective. Addison-Wesley.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[4]  IDESA / EPFL — Digital IC design tutorials.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[5]  Cadence Innovus User Guide; Synopsys IC Compiler II / Fusion Compiler User Guide（命令与流程参考）.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ECAA061-F3CE-4A7F-9168-D8D5958EE520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1060704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谢谢 · 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379476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下一讲：Placement 标准单元布局（DVD Lecture 7）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4526280"/>
            <a:ext cx="3108960" cy="41148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800600"/>
            <a:ext cx="10424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Floorplan 是迭代回环：试布局 → 评估拥塞/时序/IR → 回退调整 → 收敛后再进详细布局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6263640"/>
            <a:ext cx="106070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整理 J.C  ·  源自 Digital VLSI Design (DVD), Prof. Adam Teman, Bar-Ilan University (83-612)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J.C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