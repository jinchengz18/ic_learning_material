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数字 IC 后端 · 从 RTL 到 GDS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把逻辑网表落成可实现的物理骨架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14E0A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按工程决策顺序展开的五章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定位、目标、输入输出与导入前提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扁平/层次、时序预算、引脚与穿通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PDN、IR/EM、电源网格与宏摆放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工具流程与收束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03DBFA8-BB6A-4563-BF98-066FB1D2794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从逻辑网表到物理骨架，做后端第一层承诺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45896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36752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93445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84301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进入物理世界的第一层承诺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综合后的门级网表只说明实例与连接，不含任何单元、宏、IO 或电源结构的物理位置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把它落成可实现的物理骨架——从逻辑世界进入物理世界的第一层承诺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骨架含：晶粒 die / 核心区 core，IO / 焊盘 / 凸点的大致位置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硬宏的位置、朝向与固定状态，以及标准单元可放置区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电源环 / 条带 / 网格 / 供电轨，阻挡 / 留边 / 区域约束等物理约束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下游布局 / CTS / 布线 / 签核都沿此骨架细化；此阶段改成本低，签核再改则牵一发而动全身</a:t>
            </a:r>
          </a:p>
        </p:txBody>
      </p:sp>
      <p:pic>
        <p:nvPicPr>
          <p:cNvPr id="6" name="Picture 5" descr="ext_die_486_ccb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125797"/>
            <a:ext cx="6263640" cy="36579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6382512"/>
            <a:ext cx="6263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来源：Intel 80486DX2 die（功能块标注）· Smial · CC BY 3.0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D9210C9-080A-4EE7-B132-1F339F407D8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沿主线反查：现象 → 优先方向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遇到问题沿同一条路径排查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优先反查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利用率、宏通道、引脚可达性、布线阻挡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时序变差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引脚位置、层次化时序预算、长绕线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电源焊盘、电源网格、过孔（via）、高功耗宏单元位置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电流密度、金属宽度、过孔阵列、高功耗集中区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3E3DE75-8222-4E2F-9183-60B209580E9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本质是逻辑→物理的映射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本质是一个映射：把“谁连谁”的逻辑网表，落成实例、IO、宏单元与电源网络在芯片上如何摆放、连接与供电。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它要同时服务三个目标——减小芯片面积、减小关键路径延迟、减小布线拥塞。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但三者天然冲突：面积压太紧会拥塞，通道留太宽会浪费面积，电源网格做太强又抢走信号布线资源。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因此 Floorplan 是在面积、时序、拥塞与供电可靠性之间做的第一轮工程取舍。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逻辑综合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Synth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30568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1E50C8"/>
          </a:solidFill>
          <a:ln w="19050">
            <a:solidFill>
              <a:srgbClr val="1E5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布图规划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9016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布局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Place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27463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时钟树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25912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布线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Route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die / core 几何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0B7D72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宏摆放 &amp; 朝向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D14E0A"/>
          </a:solidFill>
          <a:ln w="19050">
            <a:solidFill>
              <a:srgbClr val="D1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电源规划 PG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BE1E1E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 多电压 / blockage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0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82127" y="2048256"/>
            <a:ext cx="246889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80576" y="2048256"/>
            <a:ext cx="246887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9024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77840" y="143560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在 PnR 流程中的位置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697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主要任务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C0696B9-B25B-4DFF-8610-A627F29C962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floorplan 要同时回答的 8 类问题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Floorplan 阶段要回答的问题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芯片尺寸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晶粒 / 模块有多大，长宽比如何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核心放置区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标准单元可放置区在哪里，利用率多少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对外接口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IO 焊盘 / 凸点 / 封装引脚如何对应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Hard IP / Macros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SRAM、ROM、PLL、模拟 IP 等硬块放在哪里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电源传输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电源焊盘数量与位置，电源网格 / 环 / 条带怎么建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多电压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电源域、电压岛、always-on 资源如何预留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时钟方案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时钟分布是否需要特殊通道或宏单元位置配合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扁平 / 层次化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整颗一次实现，还是切成多个模块实现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AC00E5B-DDA4-4599-A00E-328CDD540C7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每项输入各有作用，输出须可继续用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输入·设计网表给实例与连接；面积需求 → 估核心尺寸、利用率与宏空间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输入·电源需求 → 定电源焊盘 / 网格 / 高功耗宏位置；时序约束 → 影响划分 / 引脚 / 数据流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输入·物理分区给层次化的模块边界与约束；IO / 宏提示可选，省初期迭代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输出须具体到工具数据库可继续用：晶粒 / 模块面积，IO 与硬宏已摆放并固定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输出：电源网格初步设计、必要电源预布线完成，标准单元可放置区已定义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输出：阻挡 / 留边 / 区域约束入库，可布线性 / 时序 / 电源完整性有早期评估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Netlist (.v)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LEF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Liberty (.lib)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UPF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Partition / 预算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2194560"/>
            <a:ext cx="2240280" cy="118872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ICC2 / Innovus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5196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DEF：宏 + PG + blockage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4910328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Floorplan DB (NDM/OA)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5568696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可布线性 / 时序初评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95360" y="2743200"/>
            <a:ext cx="777240" cy="45720"/>
          </a:xfrm>
          <a:prstGeom prst="line">
            <a:avLst/>
          </a:prstGeom>
          <a:ln w="19050">
            <a:solidFill>
              <a:srgbClr val="C7CD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8686800" y="3383280"/>
            <a:ext cx="1783080" cy="82296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577840" y="160020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393192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7B92D92-06B8-4F6E-B094-BAC4AE3A21E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由外到内 + 核心受限 / 焊盘受限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芯片几何由外到内：晶粒 Die ＞ IO / 焊盘环 ＞ 核心区 Core ＞（宏单元 + 标准单元行）。IO 引脚常由前端、系统或封装侧先提出，但物理设计必须参与评审。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原因有二：一是 IO 不像逻辑晶体管随工艺快速缩小，IO 单元与焊盘面积非常贵；二是 IO 不只传信号还负责供电，电源 / 地焊盘的数量与位置直接影响 IR 压降与 EM。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选尺寸先判断是核心受限还是焊盘受限：核心受限由逻辑规模、宏与布线资源决定芯片大小，重点优化利用率与摆放；焊盘受限由 IO 数量、焊盘间距与封装引脚决定、晶粒已不能再小，重点优化 IO 环与封装协同。</a:t>
            </a:r>
          </a:p>
        </p:txBody>
      </p:sp>
      <p:pic>
        <p:nvPicPr>
          <p:cNvPr id="6" name="Picture 5" descr="ext_die_i9_cc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512185"/>
            <a:ext cx="6263640" cy="2885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6382512"/>
            <a:ext cx="6263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来源：Intel i9-13900K die · Fritzchens Fritz / JmsDoug · CC0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D9AC73B-3779-41B9-B05A-0292D943A81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两个口径 + 必须试布线验证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阶段的利用率通常指标准单元占核心区面积的比例，常见初值约 70%。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利用率太高会带来布线拥塞、合法化与优化自由度不足、引脚密集处局部拥塞，以及电源网格与信号抢资源；太低则浪费面积、拉长平均互连。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工程上要区分总利用率（含宏）与有效利用率（扣除阻挡、宏留边、禁布区）；但不能只凭利用率定尺寸——完成初始估算后还要跑试布线或全局布线估拥塞，再决定是否放大核心、调综合、移宏或改引脚。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6B2CC82-306B-4FD9-8693-34F425358B2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物理实现前每个子模块只引用一次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进入物理域前，网表必须唯一化——每个子模块只被引用一次。这是因为物理优化要按实例独立移动、插缓冲器、做优化。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如果两个实例共享同一个模块定义，工具想优化 m1/u1 时就可能同时改变 m2/u1，物理优化边界不清晰。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综合后的网表必须在布局之前完成唯一化：可以由综合工具完成，也可以在设计导入阶段完成。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20624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21208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698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6988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6988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3550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2697480"/>
            <a:ext cx="502919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355080" y="3703320"/>
            <a:ext cx="457200" cy="484632"/>
          </a:xfrm>
          <a:prstGeom prst="line">
            <a:avLst/>
          </a:prstGeom>
          <a:ln w="19050">
            <a:solidFill>
              <a:srgbClr val="B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269480" y="3703320"/>
            <a:ext cx="457199" cy="484632"/>
          </a:xfrm>
          <a:prstGeom prst="line">
            <a:avLst/>
          </a:prstGeom>
          <a:ln w="19050">
            <a:solidFill>
              <a:srgbClr val="B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4088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5554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42416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1832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06424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06424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94960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非唯一：m1/m2 共享 amod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唯一化：各自独立副本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改 m1/u1 牵连 m2/u1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59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各实例可独立优化、移动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D2171DB-AC36-4510-AA79-B02E6FE434E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把大宏推到边角，留完整大矩形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硬宏含 SRAM/ROM/PLL/模拟 IP / 第三方 hard IP：面积大、形状 / 引脚固定，内部不可被摆放器拆开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主线：把大宏推到边缘或角落，让标准单元区保持一个尽量完整的大矩形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按数据流就近摆放，让强连接的宏与逻辑靠近，用飞线 flyline 看连接权重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宏与宏、宏与边界之间留足信号、电源、时钟通道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必要时旋转宏改善引脚可达性，并避免引脚对着窄通道或角落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位置确定后标记为固定；引线键合下高功耗宏勿放中心太深，否则供电路径长、IR 压力大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1FAE399-EE9E-47EC-B57F-6FDC0EDD29F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布局区域：表达放置意图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越硬越易局部拥塞，仅用于必要结构性意图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强度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软引导 soft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希望这些单元聚在一起，但无固定区域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引导区域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尽量放在指定区域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区域约束 region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指定单元必须放该区域，其他单元也可进入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围栏约束 fence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指定单元必须放该区域，其他单元不可进入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6D3C1CDF-E65E-4021-BBAB-0C88A51DF74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限制放置 + 给布线留活路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布局阻挡限制标准单元摆放，分三种：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完全禁放；soft 初始禁、优化阶段可放 buffer / inverter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限制区域最大密度（例如最多 40%）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 halo（padding / keepout）：宏外围一圈空白，改善引脚可达性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留边还为缓冲器 / 反相器插入、电源与信号布线留近宏通道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关键区别：halo 跟随宏移动，blockage 多为固定坐标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6C38842-2BB9-40E0-A19C-BE6EBD0719C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限制走线 + 图上可见的好特征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布线阻挡限制走线（非摆放），可指定层或层范围（如禁 M1–M3 在某区域走线）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用途：保护宏单元上方特殊区域，给电源结构预留资源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用途：避免低层金属被不合适的信号占用，保护噪声敏感模拟区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好 floorplan：保持单个大的核心放置区，大块 RAM 放角落 / 边缘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保留宽布线通道，避免收缩狭窄通道，不让大量引脚对着窄通道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必要时旋转宏改善引脚可达性，引脚不挤在模块角落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用阻挡 / 留边提前保护可布线性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21460AE-D0F9-4173-A2B6-D0E6EFFD972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层次化接口与时序预算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扁平 / 层次、时序预算、引脚与穿通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大芯片切块换运行时间 / 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扁平流程一次跑完整颗芯片 → 运行时间与内存压力大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层次化把全芯片切成多个模块，各自 P&amp;R，顶层再做全芯片时序 / 验证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优点：EDA 运行更快、内存更少、ECO 更快、利于复用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代价：全芯片时序收敛更难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代价：引脚分配 / 穿通更关键，时序约束预算更复杂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代价：模块抽象 ILM / ETM 需要维护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23560" y="2286000"/>
            <a:ext cx="260604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834639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整颗芯片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一次 P&amp;R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2286000"/>
            <a:ext cx="288036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2560320"/>
            <a:ext cx="1417320" cy="59436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 集成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5276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5330952"/>
            <a:ext cx="5989320" cy="84124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层次化省运行时间 / 内存、利于复用；但全芯片时序收敛更难，依赖引脚 / feedthrough / 时序预算 / ILM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9304020" y="3154680"/>
            <a:ext cx="66294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172700" y="3154680"/>
            <a:ext cx="685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10515600" y="3154680"/>
            <a:ext cx="5257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8066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扁平 Flat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678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层次化 Hierarchical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0660" y="46908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运行慢 / 内存大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810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8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5459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9DDB01F-B288-4A2D-A5C3-2A7690D1F79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顶层约束映射到模块边界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芯片级约束必须映射成模块级约束。例如顶层某输入到模块的路径预算为 1.5 ns，模块实现时就要在模块边界建立对应的输入 / 输出延迟、时钟不确定性、负载与驱动单元约束。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预算合理时，各模块独立收敛后全芯片才容易收敛；预算不合理时，单个模块看似通过，全芯片仍可能失败。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接口逻辑模型（ILM）保留模块边界附近与接口相关的逻辑、隐藏内部细节；抽取时序模型（ETM）也提供模块的抽象时序模型。二者都让全芯片时序分析更快、更可控。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79FCC7F-B67F-471B-9628-72121FAE80F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 IO 与模块 pin 影响点不同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顶层 IO 摆放决定芯片对外接口位置，影响封装、ESD、电源焊盘与芯片边界；模块级引脚分配则决定层次化模块之间如何连接，影响模块间布线、时序预算、feedthrough 与全芯片收敛。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模块级引脚的约束常包括布线层、引脚间距与尺寸、重叠规则、网络分组、引脚引导区域、数据流方向，以及试布线的边界穿越情况。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在无通道或通道资源紧张的设计中 feedthrough 很关键：若信号从分区 A 经分区 B 到分区 C，而 B 没有 feedthrough，信号可能被迫绕过整个模块。解法是在 B 上生成 feedthrough 引脚 / 网络，把跨越 B 的连接拆成几段。</a:t>
            </a:r>
          </a:p>
        </p:txBody>
      </p:sp>
      <p:pic>
        <p:nvPicPr>
          <p:cNvPr id="6" name="Picture 5" descr="ext_wirebond_ccby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7845" y="1554480"/>
            <a:ext cx="600075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6382512"/>
            <a:ext cx="6263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来源：Wire-bond 实拍 · Mister rf · CC BY-SA 4.0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DAC4248-A2CD-49B4-97D9-EE00592469B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PDN、IR / EM、电源网格与宏摆放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 不只是连上 VDD/GND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电源规划要解决的不只是“连上 VDD/GND”，它同时关系到动态功耗、静态漏电、IR 压降、电压跌落、电迁移和自热磨损。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电源分布网络（PDN）需要把电流从焊盘 / 凸点送到晶体管，保持稳定低噪声的电压，提供平均与峰值功耗，为信号提供返回路径，避免电迁移与自热，并合理占用面积与布线资源。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因此电源规划从 floorplan 阶段就开始，而不是等布线之后再补救。右图是一颗真实芯片的顶层金属，几乎整层都用于供电网。</a:t>
            </a:r>
          </a:p>
        </p:txBody>
      </p:sp>
      <p:pic>
        <p:nvPicPr>
          <p:cNvPr id="6" name="Picture 5" descr="ext_pdn_bitfury_ccb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1120" y="1554480"/>
            <a:ext cx="479419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6382512"/>
            <a:ext cx="6263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来源：Bitfury 55nm 顶层金属供电网 · ZeptoBars · CC BY 3.0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50CD64C-9BA4-45E2-BD6E-A3A64EAA518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ΔV=I·R，细长低层线扛不住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压降是供电线上的电压下降，ΔV = I·R。芯片电源网格是个巨大网络，工具建立电阻矩阵、结合每个门的平均电流，求解每个节点的电压。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若实际电压低于容差下限，单元延迟会增加、时序可能失败，严重时功能错误。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一个典型估算：1 mm 长、100 nm 宽的 M1 电源轨，方块电阻 0.1 Ω/□ 时线阻约 1000 Ω，承载约 0.1 mA 时 IR 压降可达约 100 mV——细而长的低层电源线无法单独供电，必须用更宽、更厚、更高层、多路径、多过孔的结构。</a:t>
            </a:r>
          </a:p>
        </p:txBody>
      </p:sp>
      <p:pic>
        <p:nvPicPr>
          <p:cNvPr id="6" name="Picture 5" descr="ext_irdrop_waca_cc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074" y="1554480"/>
            <a:ext cx="610829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6382512"/>
            <a:ext cx="6263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来源：IR drop map · WACA-UNet, Seo et al. · arXiv:2507.19197 · CC BY 4.0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FED2FEB-97DE-42FC-9067-3D84FE831C0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长期电流密度能不能扛住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EM：电流长期流过导体，电子动量推动金属原子迁移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开路：单根线上形成空洞（void）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短路：相邻线之间桥接（bridging）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RC 改变：即使不开 / 不短路，也可能造成性能退化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偏“瞬时电压够不够”，EM 偏“长期电流密度扛不扛”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二者都与 floorplan 有关：焊盘、高功耗宏位置、网格宽度 / 间距 / 过孔早期就定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D918C2C-03E4-4FD3-AF0F-47D8E0F2A30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电源越强越可靠，但越抢信号资源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代价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更宽电源线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降低电阻与 IR 压降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占用布线轨道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更多电源条带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提供更多电流路径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增加信号拥塞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降低垂直连接电阻与 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占用局部布线资源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更靠近电源焊盘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可能牺牲数据流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AB9D1F9-209F-4FA5-B9B2-313428FDA17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标准做法：上层厚金属做网格 / 条带，下层连 follow-pin，过孔堆栈贯通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1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结构（自上而下）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所在层 / 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 / 凸点 pad / bump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封装边界 / 芯片表面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从封装引入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电源环 power ring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上层厚金属，绕芯片 / 核心 / hard IP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构成供电主干环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电源条带 power stripe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上层厚金属，横跨核心区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分担电流、缩短供电路径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电源网格 power mesh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纵横条带互连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互连成网，降低等效电阻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标准单元供电轨 follow-pin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下层金属，沿标准单元行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 VDD/VSS 送到每个单元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专用布线 special route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贯穿各层，多重过孔 / 堆栈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连焊盘 / 环 / 条带 / 引脚 / rail 并打过孔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6759BC0-5E36-40D0-BFC1-6D8002376A6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在 IR / EM 与布线资源间取舍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本质是在 IR、EM 与布线资源之间取舍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先要功耗预算与初始估算：平均电流、最大电流密度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决定：总体网格结构、是否门控 / 多电压、各域电源焊盘数量与位置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决定：用哪些金属层、条带宽度 / 间距、过孔堆栈占多少轨道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决定：要不要电源环、层次化模块是否需要屏蔽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命令骨架：globalNetConnect → addRing → addStripe → sroute，先做初始电源网络分析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8BDEFD6-8396-4FF9-ACF7-4439AB0D9084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高功耗宏要看供电路径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高功耗模块摆放不能只看数据流，还要看供电路径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高功耗模块靠近边界电源焊盘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高功耗模块之间不要过度集中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宏通道不只给信号，也给电源条带、过孔、时钟预留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电源焊盘、宏位置与网格密度必须一起迭代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用颜色图找热点；修复常是热点加线 / 加过孔 / 加宽条带 / 移宏</a:t>
            </a:r>
          </a:p>
        </p:txBody>
      </p:sp>
      <p:pic>
        <p:nvPicPr>
          <p:cNvPr id="6" name="Picture 5" descr="f18_pg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C384DAF-1907-49A3-80CA-3BB7958EBB6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工具流程与调试收束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工具无关的八步流程骨架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初始化设计：读入网表 / LEF / MMMC / SDC / IO 摆放信息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指定布图规划：确定布图尺寸、长宽比与目标利用率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摆放硬宏：绝对 / 相对坐标摆放，标记固定，并定义留边与阻挡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定义区域与阻挡：布局区域、布局阻挡、布线阻挡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定义全局电源网：把顶层 VDD/GND 名称映射到 IP 的电源 / 地引脚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创建电源环：建芯片外围电源环，必要时再为 hard IP 单独建环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⑦  建立电源网格：含 follow-pin 供电轨、条带 / 网格，并可靠连接 hard IP 电源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⑧  分配引脚：定义层次化模块的边界引脚，形成反复调整的闭环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874519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 die/macro/PG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8408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0B7D72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试布局 + GR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5257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BE1E1E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拥塞 / 时序 / 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D14E0A"/>
          </a:solidFill>
          <a:ln w="19050">
            <a:solidFill>
              <a:srgbClr val="D1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回退调整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01200" y="26517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9601200" y="4434840"/>
            <a:ext cx="96012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6720840" y="44805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20840" y="2651760"/>
            <a:ext cx="86868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949440" y="3840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迭代闭环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554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收敛后才进详细 Placement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9DB13BF-8425-436A-B03D-2A7EBC4F81C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让下游布局 / CTS / 布线 / 签核都有路可走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反查方向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常见动作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布线绕不出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降利用率、拓宽通道、调引脚、改阻挡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时序收不回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引脚位置、时序预算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按数据流重摆宏，重新预算接口路径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电源焊盘、网格、过孔、高功耗宏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加密网格、增加过孔、移动高功耗宏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违例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加宽金属、并联过孔、分散高功耗模块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PG 未连通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全局电源名、宏电源 / 地引脚、专用布线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校正 VDD/GND 命名并补专用布线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62D3ACA-4FFB-4DA2-A17F-4D03F7CAA87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附录 · 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选项随工具版本而异；Innovus margin 四值顺序为 L / B / R /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 / mesh_pattern + compile_pg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14E0A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&lt;ar&gt; &lt;util&gt; &lt;L&gt; &lt;B&gt; &lt;R&gt; &lt;T&gt;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globalNetConnect VDD -type pgpin -pin VDD -all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43C85B6-972E-4E85-9A11-567488B7E6E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参考文献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本讲内容与图示来源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548640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[1]  Adam Teman. Digital VLSI Design (DVD), Lecture 6 — Import Design and Floorplan. Bar-Ilan University (83-612). enicslabs.com/academic-courses/dvd-english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[2]  J. M. Rabaey, A. Chandrakasan, B. Nikolić. Digital Integrated Circuits: A Design Perspective. Prentice Hall.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[3]  N. H. E. Weste, D. M. Harris. CMOS VLSI Design: A Circuits and Systems Perspective. Addison-Wesley.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[4]  IDESA / EPFL — Digital IC design tutorials.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[5]  Cadence Innovus / Synopsys ICC2 / Fusion Compiler User Guides（命令与流程参考）.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27632"/>
            <a:ext cx="548640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[6]  图 1.1 Intel 80486DX2 die — Smial, CC BY 3.0, Wikimedia Commons.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[7]  图 2.1 Intel Core i9-13900K die shot — Fritzchens Fritz / JmsDoug, CC0, Wikimedia Commons.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[8]  图 3.3 Wire-bonding close-up — Mister rf, CC BY-SA 4.0, Wikimedia Commons.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[9]  图 4.1 Bitfury 顶层金属供电网 — ZeptoBars, CC BY 3.0, Wikimedia Commons.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[10]  图 4.2 Static IR-drop map — Seo et al. (WACA-UNet), arXiv:2507.19197, CC BY 4.0.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8A48CF9-80C1-403A-8FA5-6494CD0EE803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是迭代回环：试布局 → 评估拥塞/时序/IR → 回退调整 → 收敛后再进详细布局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