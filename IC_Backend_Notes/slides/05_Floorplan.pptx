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57f01e533b4316" /><Relationship Type="http://schemas.openxmlformats.org/officeDocument/2006/relationships/extended-properties" Target="/docProps/app.xml" Id="Rb737832f70ed4a86" /><Relationship Type="http://schemas.openxmlformats.org/officeDocument/2006/relationships/officeDocument" Target="/ppt/presentation.xml" Id="R279465ed39554f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5acff9cf8f4de0"/>
  </p:sldMasterIdLst>
  <p:notesMasterIdLst>
    <p:notesMasterId xmlns:r="http://schemas.openxmlformats.org/officeDocument/2006/relationships" r:id="Rf581177cb08b4316"/>
  </p:notesMasterIdLst>
  <p:sldIdLst>
    <p:sldId xmlns:r="http://schemas.openxmlformats.org/officeDocument/2006/relationships" id="256" r:id="R32a92af6dcc0487b"/>
    <p:sldId xmlns:r="http://schemas.openxmlformats.org/officeDocument/2006/relationships" id="257" r:id="Rc3a45779926c4b2e"/>
    <p:sldId xmlns:r="http://schemas.openxmlformats.org/officeDocument/2006/relationships" id="258" r:id="Rfcf5ba2de7f44879"/>
    <p:sldId xmlns:r="http://schemas.openxmlformats.org/officeDocument/2006/relationships" id="259" r:id="Rc336ba26b59e4f6c"/>
    <p:sldId xmlns:r="http://schemas.openxmlformats.org/officeDocument/2006/relationships" id="260" r:id="Rb57432e3e4744adb"/>
    <p:sldId xmlns:r="http://schemas.openxmlformats.org/officeDocument/2006/relationships" id="261" r:id="R295e2b58a6af4753"/>
    <p:sldId xmlns:r="http://schemas.openxmlformats.org/officeDocument/2006/relationships" id="262" r:id="Ra425bbba264e4b43"/>
    <p:sldId xmlns:r="http://schemas.openxmlformats.org/officeDocument/2006/relationships" id="263" r:id="Rb755501268544ab9"/>
    <p:sldId xmlns:r="http://schemas.openxmlformats.org/officeDocument/2006/relationships" id="264" r:id="Re17f0c61d1bf4848"/>
    <p:sldId xmlns:r="http://schemas.openxmlformats.org/officeDocument/2006/relationships" id="265" r:id="R0236049ac8ac44d8"/>
    <p:sldId xmlns:r="http://schemas.openxmlformats.org/officeDocument/2006/relationships" id="266" r:id="R83d9e29e8b784037"/>
    <p:sldId xmlns:r="http://schemas.openxmlformats.org/officeDocument/2006/relationships" id="267" r:id="Rbf7318df0d8d4f1c"/>
    <p:sldId xmlns:r="http://schemas.openxmlformats.org/officeDocument/2006/relationships" id="268" r:id="R7bf71c46c1ff43f2"/>
    <p:sldId xmlns:r="http://schemas.openxmlformats.org/officeDocument/2006/relationships" id="269" r:id="R03e3c1c9e1fe47cc"/>
    <p:sldId xmlns:r="http://schemas.openxmlformats.org/officeDocument/2006/relationships" id="270" r:id="R791316e4e8f24b80"/>
    <p:sldId xmlns:r="http://schemas.openxmlformats.org/officeDocument/2006/relationships" id="271" r:id="R69419730078847a6"/>
    <p:sldId xmlns:r="http://schemas.openxmlformats.org/officeDocument/2006/relationships" id="272" r:id="Rc3921d428c5f49c1"/>
    <p:sldId xmlns:r="http://schemas.openxmlformats.org/officeDocument/2006/relationships" id="273" r:id="R9b45f923f3134f6b"/>
    <p:sldId xmlns:r="http://schemas.openxmlformats.org/officeDocument/2006/relationships" id="274" r:id="R71cb6b193dda47c6"/>
    <p:sldId xmlns:r="http://schemas.openxmlformats.org/officeDocument/2006/relationships" id="275" r:id="Rfad497ff062647e1"/>
    <p:sldId xmlns:r="http://schemas.openxmlformats.org/officeDocument/2006/relationships" id="276" r:id="R42ce811a77ce4775"/>
    <p:sldId xmlns:r="http://schemas.openxmlformats.org/officeDocument/2006/relationships" id="277" r:id="Rfcd6b3f3f51f4bbd"/>
    <p:sldId xmlns:r="http://schemas.openxmlformats.org/officeDocument/2006/relationships" id="278" r:id="R61dcd6d2a91d475b"/>
    <p:sldId xmlns:r="http://schemas.openxmlformats.org/officeDocument/2006/relationships" id="279" r:id="Rd85bbaf466a246b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62a084fd674a75" /><Relationship Type="http://schemas.openxmlformats.org/officeDocument/2006/relationships/slideMaster" Target="/ppt/slideMasters/slideMaster1.xml" Id="R0b5acff9cf8f4de0" /><Relationship Type="http://schemas.openxmlformats.org/officeDocument/2006/relationships/notesMaster" Target="/ppt/notesMasters/notesMaster1.xml" Id="Rf581177cb08b4316" /><Relationship Type="http://schemas.openxmlformats.org/officeDocument/2006/relationships/presProps" Target="/ppt/presProps.xml" Id="R3798567b4fbd4bf0" /><Relationship Type="http://schemas.openxmlformats.org/officeDocument/2006/relationships/tableStyles" Target="/ppt/tableStyles.xml" Id="R4af3054e0aee40ac" /><Relationship Type="http://schemas.openxmlformats.org/officeDocument/2006/relationships/slide" Target="/ppt/slides/slide1.xml" Id="R32a92af6dcc0487b" /><Relationship Type="http://schemas.openxmlformats.org/officeDocument/2006/relationships/slide" Target="/ppt/slides/slide2.xml" Id="Rc3a45779926c4b2e" /><Relationship Type="http://schemas.openxmlformats.org/officeDocument/2006/relationships/slide" Target="/ppt/slides/slide3.xml" Id="Rfcf5ba2de7f44879" /><Relationship Type="http://schemas.openxmlformats.org/officeDocument/2006/relationships/slide" Target="/ppt/slides/slide4.xml" Id="Rc336ba26b59e4f6c" /><Relationship Type="http://schemas.openxmlformats.org/officeDocument/2006/relationships/slide" Target="/ppt/slides/slide5.xml" Id="Rb57432e3e4744adb" /><Relationship Type="http://schemas.openxmlformats.org/officeDocument/2006/relationships/slide" Target="/ppt/slides/slide6.xml" Id="R295e2b58a6af4753" /><Relationship Type="http://schemas.openxmlformats.org/officeDocument/2006/relationships/slide" Target="/ppt/slides/slide7.xml" Id="Ra425bbba264e4b43" /><Relationship Type="http://schemas.openxmlformats.org/officeDocument/2006/relationships/slide" Target="/ppt/slides/slide8.xml" Id="Rb755501268544ab9" /><Relationship Type="http://schemas.openxmlformats.org/officeDocument/2006/relationships/slide" Target="/ppt/slides/slide9.xml" Id="Re17f0c61d1bf4848" /><Relationship Type="http://schemas.openxmlformats.org/officeDocument/2006/relationships/slide" Target="/ppt/slides/slide10.xml" Id="R0236049ac8ac44d8" /><Relationship Type="http://schemas.openxmlformats.org/officeDocument/2006/relationships/slide" Target="/ppt/slides/slide11.xml" Id="R83d9e29e8b784037" /><Relationship Type="http://schemas.openxmlformats.org/officeDocument/2006/relationships/slide" Target="/ppt/slides/slide12.xml" Id="Rbf7318df0d8d4f1c" /><Relationship Type="http://schemas.openxmlformats.org/officeDocument/2006/relationships/slide" Target="/ppt/slides/slide13.xml" Id="R7bf71c46c1ff43f2" /><Relationship Type="http://schemas.openxmlformats.org/officeDocument/2006/relationships/slide" Target="/ppt/slides/slide14.xml" Id="R03e3c1c9e1fe47cc" /><Relationship Type="http://schemas.openxmlformats.org/officeDocument/2006/relationships/slide" Target="/ppt/slides/slide15.xml" Id="R791316e4e8f24b80" /><Relationship Type="http://schemas.openxmlformats.org/officeDocument/2006/relationships/slide" Target="/ppt/slides/slide16.xml" Id="R69419730078847a6" /><Relationship Type="http://schemas.openxmlformats.org/officeDocument/2006/relationships/slide" Target="/ppt/slides/slide17.xml" Id="Rc3921d428c5f49c1" /><Relationship Type="http://schemas.openxmlformats.org/officeDocument/2006/relationships/slide" Target="/ppt/slides/slide18.xml" Id="R9b45f923f3134f6b" /><Relationship Type="http://schemas.openxmlformats.org/officeDocument/2006/relationships/slide" Target="/ppt/slides/slide19.xml" Id="R71cb6b193dda47c6" /><Relationship Type="http://schemas.openxmlformats.org/officeDocument/2006/relationships/slide" Target="/ppt/slides/slide20.xml" Id="Rfad497ff062647e1" /><Relationship Type="http://schemas.openxmlformats.org/officeDocument/2006/relationships/slide" Target="/ppt/slides/slide21.xml" Id="R42ce811a77ce4775" /><Relationship Type="http://schemas.openxmlformats.org/officeDocument/2006/relationships/slide" Target="/ppt/slides/slide22.xml" Id="Rfcd6b3f3f51f4bbd" /><Relationship Type="http://schemas.openxmlformats.org/officeDocument/2006/relationships/slide" Target="/ppt/slides/slide23.xml" Id="R61dcd6d2a91d475b" /><Relationship Type="http://schemas.openxmlformats.org/officeDocument/2006/relationships/slide" Target="/ppt/slides/slide24.xml" Id="Rd85bbaf466a246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7c33fc015e48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43a40c79d44e29" /><Relationship Type="http://schemas.openxmlformats.org/officeDocument/2006/relationships/notesMaster" Target="/ppt/notesMasters/notesMaster1.xml" Id="R64c96c5fc4894a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98d2a1decc4274" /><Relationship Type="http://schemas.openxmlformats.org/officeDocument/2006/relationships/notesMaster" Target="/ppt/notesMasters/notesMaster1.xml" Id="R2c2656c6d4e34d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447b558e614635" /><Relationship Type="http://schemas.openxmlformats.org/officeDocument/2006/relationships/notesMaster" Target="/ppt/notesMasters/notesMaster1.xml" Id="R6b7aa7daedb74d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461c7b4fb44c6a" /><Relationship Type="http://schemas.openxmlformats.org/officeDocument/2006/relationships/notesMaster" Target="/ppt/notesMasters/notesMaster1.xml" Id="Rfd08f3447bef45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ce429bcc364b43" /><Relationship Type="http://schemas.openxmlformats.org/officeDocument/2006/relationships/notesMaster" Target="/ppt/notesMasters/notesMaster1.xml" Id="Rf0da8e41a4a743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b3cb74628e4c66" /><Relationship Type="http://schemas.openxmlformats.org/officeDocument/2006/relationships/notesMaster" Target="/ppt/notesMasters/notesMaster1.xml" Id="Rc8a77efa3f2947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f733c2d52543d4" /><Relationship Type="http://schemas.openxmlformats.org/officeDocument/2006/relationships/notesMaster" Target="/ppt/notesMasters/notesMaster1.xml" Id="Rfa84707ce41240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268e765d0040c4" /><Relationship Type="http://schemas.openxmlformats.org/officeDocument/2006/relationships/notesMaster" Target="/ppt/notesMasters/notesMaster1.xml" Id="Rbbd69628e7a04c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341bc8d1e84c9e" /><Relationship Type="http://schemas.openxmlformats.org/officeDocument/2006/relationships/notesMaster" Target="/ppt/notesMasters/notesMaster1.xml" Id="Rcd07af388b664f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1a97e9a54a44ca" /><Relationship Type="http://schemas.openxmlformats.org/officeDocument/2006/relationships/notesMaster" Target="/ppt/notesMasters/notesMaster1.xml" Id="Rd7c22c02c6e143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ea29b241944385" /><Relationship Type="http://schemas.openxmlformats.org/officeDocument/2006/relationships/notesMaster" Target="/ppt/notesMasters/notesMaster1.xml" Id="R21a423e868174c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7afd7e47d04ad8" /><Relationship Type="http://schemas.openxmlformats.org/officeDocument/2006/relationships/notesMaster" Target="/ppt/notesMasters/notesMaster1.xml" Id="R7c276d5cc1994c0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85432a340bf46a6" /><Relationship Type="http://schemas.openxmlformats.org/officeDocument/2006/relationships/notesMaster" Target="/ppt/notesMasters/notesMaster1.xml" Id="Rc162d436b08f42a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d8208f8bf7f48c7" /><Relationship Type="http://schemas.openxmlformats.org/officeDocument/2006/relationships/notesMaster" Target="/ppt/notesMasters/notesMaster1.xml" Id="Rde5554a678c74cd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43a1153e8d64279" /><Relationship Type="http://schemas.openxmlformats.org/officeDocument/2006/relationships/notesMaster" Target="/ppt/notesMasters/notesMaster1.xml" Id="R3f378cf7c347451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3d75728216146dd" /><Relationship Type="http://schemas.openxmlformats.org/officeDocument/2006/relationships/notesMaster" Target="/ppt/notesMasters/notesMaster1.xml" Id="Rc8d04fca38ef4f3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79ad75caabf4ce6" /><Relationship Type="http://schemas.openxmlformats.org/officeDocument/2006/relationships/notesMaster" Target="/ppt/notesMasters/notesMaster1.xml" Id="R9a82cf15afd2470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eebf4b486bc4c04" /><Relationship Type="http://schemas.openxmlformats.org/officeDocument/2006/relationships/notesMaster" Target="/ppt/notesMasters/notesMaster1.xml" Id="R77143369d4a54ae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634da5806d54e6b" /><Relationship Type="http://schemas.openxmlformats.org/officeDocument/2006/relationships/notesMaster" Target="/ppt/notesMasters/notesMaster1.xml" Id="R908a949f14e442d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14ab905259d49c8" /><Relationship Type="http://schemas.openxmlformats.org/officeDocument/2006/relationships/notesMaster" Target="/ppt/notesMasters/notesMaster1.xml" Id="Rf806eb9070ff4a4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d6decbdb9c8400e" /><Relationship Type="http://schemas.openxmlformats.org/officeDocument/2006/relationships/notesMaster" Target="/ppt/notesMasters/notesMaster1.xml" Id="R055f04129bc2490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18ed2d4ce4e47af" /><Relationship Type="http://schemas.openxmlformats.org/officeDocument/2006/relationships/notesMaster" Target="/ppt/notesMasters/notesMaster1.xml" Id="Rad35ee3629eb437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df5329a4e7847db" /><Relationship Type="http://schemas.openxmlformats.org/officeDocument/2006/relationships/notesMaster" Target="/ppt/notesMasters/notesMaster1.xml" Id="Rab5e5a0dad02465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fe36009d5914ac5" /><Relationship Type="http://schemas.openxmlformats.org/officeDocument/2006/relationships/notesMaster" Target="/ppt/notesMasters/notesMaster1.xml" Id="R42222f18816442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e40dc17a224c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6a65417a72486d" /><Relationship Type="http://schemas.openxmlformats.org/officeDocument/2006/relationships/slideLayout" Target="/ppt/slideLayouts/slideLayout1.xml" Id="R0ab547a2979548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b547a2979548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bd991bc144f06" /><Relationship Type="http://schemas.openxmlformats.org/officeDocument/2006/relationships/image" Target="/ppt/media/image.png" Id="Rba34c4d63f554c11" /><Relationship Type="http://schemas.openxmlformats.org/officeDocument/2006/relationships/notesSlide" Target="/ppt/notesSlides/notesSlide1.xml" Id="Ra7ec57125fdd4d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5ed9607a24f66" /><Relationship Type="http://schemas.openxmlformats.org/officeDocument/2006/relationships/image" Target="/ppt/media/image2.png" Id="R36c411a0f3e44919" /><Relationship Type="http://schemas.openxmlformats.org/officeDocument/2006/relationships/notesSlide" Target="/ppt/notesSlides/notesSlide2.xml" Id="R6728a7d39e4148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a9d1f143e474c" /><Relationship Type="http://schemas.openxmlformats.org/officeDocument/2006/relationships/image" Target="/ppt/media/image3.png" Id="R9c92f38ce145468b" /><Relationship Type="http://schemas.openxmlformats.org/officeDocument/2006/relationships/notesSlide" Target="/ppt/notesSlides/notesSlide3.xml" Id="Ref688f17bd6b44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74e5416a9448e" /><Relationship Type="http://schemas.openxmlformats.org/officeDocument/2006/relationships/notesSlide" Target="/ppt/notesSlides/notesSlide4.xml" Id="R5f112beb2bda47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6d56f45b34e21" /><Relationship Type="http://schemas.openxmlformats.org/officeDocument/2006/relationships/image" Target="/ppt/media/image4.png" Id="R93284ccbe4be4e0f" /><Relationship Type="http://schemas.openxmlformats.org/officeDocument/2006/relationships/notesSlide" Target="/ppt/notesSlides/notesSlide5.xml" Id="Raa558a82158043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e13e6b6be41d8" /><Relationship Type="http://schemas.openxmlformats.org/officeDocument/2006/relationships/image" Target="/ppt/media/image5.png" Id="R417bb9299edf4c60" /><Relationship Type="http://schemas.openxmlformats.org/officeDocument/2006/relationships/notesSlide" Target="/ppt/notesSlides/notesSlide6.xml" Id="Ra58ac243645041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a07649f2e4854" /><Relationship Type="http://schemas.openxmlformats.org/officeDocument/2006/relationships/image" Target="/ppt/media/image6.png" Id="R6cfd93c2bb7e474c" /><Relationship Type="http://schemas.openxmlformats.org/officeDocument/2006/relationships/notesSlide" Target="/ppt/notesSlides/notesSlide7.xml" Id="R1f4e3006426842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edd894b3d4527" /><Relationship Type="http://schemas.openxmlformats.org/officeDocument/2006/relationships/notesSlide" Target="/ppt/notesSlides/notesSlide8.xml" Id="Rac3e0e0c2b504d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846615b9b4a7c" /><Relationship Type="http://schemas.openxmlformats.org/officeDocument/2006/relationships/image" Target="/ppt/media/image7.png" Id="Rf79db8d4d81c425c" /><Relationship Type="http://schemas.openxmlformats.org/officeDocument/2006/relationships/notesSlide" Target="/ppt/notesSlides/notesSlide9.xml" Id="R0c4576fed8694f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f5d5964434d5d" /><Relationship Type="http://schemas.openxmlformats.org/officeDocument/2006/relationships/notesSlide" Target="/ppt/notesSlides/notesSlide10.xml" Id="Rb00d1d076cb2490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bfe7ba3c742be" /><Relationship Type="http://schemas.openxmlformats.org/officeDocument/2006/relationships/image" Target="/ppt/media/image8.png" Id="R4b9cf021acd44465" /><Relationship Type="http://schemas.openxmlformats.org/officeDocument/2006/relationships/notesSlide" Target="/ppt/notesSlides/notesSlide11.xml" Id="R49b9873c165740a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38e45558d4fa0" /><Relationship Type="http://schemas.openxmlformats.org/officeDocument/2006/relationships/notesSlide" Target="/ppt/notesSlides/notesSlide12.xml" Id="Rff4795cdbd15448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ea6a103ea41a3" /><Relationship Type="http://schemas.openxmlformats.org/officeDocument/2006/relationships/notesSlide" Target="/ppt/notesSlides/notesSlide13.xml" Id="R99b7a2cd4dd14e8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9ae03e925431b" /><Relationship Type="http://schemas.openxmlformats.org/officeDocument/2006/relationships/image" Target="/ppt/media/image9.png" Id="R07ba51f899bd461c" /><Relationship Type="http://schemas.openxmlformats.org/officeDocument/2006/relationships/notesSlide" Target="/ppt/notesSlides/notesSlide14.xml" Id="Rb069ad45a5364b1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7118289f44010" /><Relationship Type="http://schemas.openxmlformats.org/officeDocument/2006/relationships/image" Target="/ppt/media/image10.png" Id="R401008cbd2534480" /><Relationship Type="http://schemas.openxmlformats.org/officeDocument/2006/relationships/notesSlide" Target="/ppt/notesSlides/notesSlide15.xml" Id="R6d4985900a0649d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932eb49ca40bb" /><Relationship Type="http://schemas.openxmlformats.org/officeDocument/2006/relationships/image" Target="/ppt/media/image11.png" Id="R4ef580ffa5cc4bd7" /><Relationship Type="http://schemas.openxmlformats.org/officeDocument/2006/relationships/notesSlide" Target="/ppt/notesSlides/notesSlide16.xml" Id="R51b1f1e72ff5417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d96dcbd354758" /><Relationship Type="http://schemas.openxmlformats.org/officeDocument/2006/relationships/image" Target="/ppt/media/image12.png" Id="Re6f568e927b4432b" /><Relationship Type="http://schemas.openxmlformats.org/officeDocument/2006/relationships/notesSlide" Target="/ppt/notesSlides/notesSlide17.xml" Id="R8df52d8d4e8241c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283d258544249" /><Relationship Type="http://schemas.openxmlformats.org/officeDocument/2006/relationships/notesSlide" Target="/ppt/notesSlides/notesSlide18.xml" Id="Rb6ca0cec7d51432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0f3ee869b40e3" /><Relationship Type="http://schemas.openxmlformats.org/officeDocument/2006/relationships/notesSlide" Target="/ppt/notesSlides/notesSlide19.xml" Id="Rfd5655c07abf4a0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13a2889fb42fa" /><Relationship Type="http://schemas.openxmlformats.org/officeDocument/2006/relationships/image" Target="/ppt/media/image13.png" Id="R6f344a2d06884c32" /><Relationship Type="http://schemas.openxmlformats.org/officeDocument/2006/relationships/notesSlide" Target="/ppt/notesSlides/notesSlide20.xml" Id="R40d46692329b4f0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62e9b26ae4e1c" /><Relationship Type="http://schemas.openxmlformats.org/officeDocument/2006/relationships/image" Target="/ppt/media/image14.png" Id="Re72cc263b89344bc" /><Relationship Type="http://schemas.openxmlformats.org/officeDocument/2006/relationships/notesSlide" Target="/ppt/notesSlides/notesSlide21.xml" Id="Rf9116a83f7404ea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bb41594df43f2" /><Relationship Type="http://schemas.openxmlformats.org/officeDocument/2006/relationships/notesSlide" Target="/ppt/notesSlides/notesSlide22.xml" Id="Rfa50bc33c90843c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5b7c0110f42e1" /><Relationship Type="http://schemas.openxmlformats.org/officeDocument/2006/relationships/notesSlide" Target="/ppt/notesSlides/notesSlide23.xml" Id="Rd3e1b8b7dbe244a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476e5a5f54faa" /><Relationship Type="http://schemas.openxmlformats.org/officeDocument/2006/relationships/image" Target="/ppt/media/image15.png" Id="R09eaff2b0f1140f2" /><Relationship Type="http://schemas.openxmlformats.org/officeDocument/2006/relationships/notesSlide" Target="/ppt/notesSlides/notesSlide24.xml" Id="Ra7c87108b9a344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E255D8-8230-4CCA-8D58-849E8ADD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3BBC5E-BD80-478B-8B63-81B2128B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C89"/>
                </a:solidFill>
              </a:defRPr>
            </a:pPr>
            <a:r>
              <a:rPr sz="1200" b="1">
                <a:solidFill>
                  <a:srgbClr val="087C89"/>
                </a:solidFill>
              </a:rPr>
              <a:t>第 1 章 · 认识 Floorplan：从逻辑网表到物理骨架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558DF-7576-4FD4-9EA2-B02481D0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1.1 · 1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19AC0-3734-4133-A492-409C3E33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1.1 本讲主线：从逻辑网表到物理骨架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20AA5-F3A8-4B5D-9DA3-49D9C8CD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4"/>
                </a:solidFill>
              </a:defRPr>
            </a:pPr>
            <a:r>
              <a:rPr sz="1500" b="0">
                <a:solidFill>
                  <a:srgbClr val="526174"/>
                </a:solidFill>
              </a:rPr>
              <a:t>布图规划是逻辑进入物理域后的第一层工程承诺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F2620-C211-454E-976A-690C5128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6291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综合后的网表只知道实例和连接关系，不知道任何物理位置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布图规划给芯片第一次定义晶粒边界、核心区、IO、宏单元和电源骨架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后续布局、CTS、布线和电源签核都围绕这个骨架收敛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它不是草图，而是决定 PPA 上限和迭代成本的结构决策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34c4d63f554c11"/>
          <a:stretch xmlns:a="http://schemas.openxmlformats.org/drawingml/2006/main"/>
        </p:blipFill>
        <p:spPr>
          <a:xfrm xmlns:a="http://schemas.openxmlformats.org/drawingml/2006/main">
            <a:off x="6029116" y="1543050"/>
            <a:ext cx="5134392" cy="3905250"/>
          </a:xfrm>
          <a:prstGeom xmlns:a="http://schemas.openxmlformats.org/drawingml/2006/main" prst="roundRect">
            <a:avLst>
              <a:gd name="adj" fmla="val 1951"/>
            </a:avLst>
          </a:prstGeom>
        </p:spPr>
      </p:pic>
    </p:spTree>
    <p:extLst>
      <p:ext uri="{BB962C8B-B14F-4D97-AF65-F5344CB8AC3E}">
        <p14:creationId xmlns:p14="http://schemas.microsoft.com/office/powerpoint/2010/main" val="12084695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28FA27-10A8-4D58-9028-A84C72C8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A0BE1-EE30-48FD-9D39-0FF1BBF4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C89"/>
                </a:solidFill>
              </a:defRPr>
            </a:pPr>
            <a:r>
              <a:rPr sz="1200" b="1">
                <a:solidFill>
                  <a:srgbClr val="087C89"/>
                </a:solidFill>
              </a:rPr>
              <a:t>第 1 章 · 认识 Floorplan：从逻辑网表到物理骨架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5E4046-5105-4B2C-83F7-B45C2019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1.2 · 2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B0ED8-E9D5-47A1-9E6D-EFB886F3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1.2 本讲路线：按工程决策顺序展开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00228-5188-4C0C-B78B-925C6C78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4"/>
                </a:solidFill>
              </a:defRPr>
            </a:pPr>
            <a:r>
              <a:rPr sz="1500" b="0">
                <a:solidFill>
                  <a:srgbClr val="526174"/>
                </a:solidFill>
              </a:rPr>
              <a:t>5 个章节对应 5 类布图规划决策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BC3107-3C1E-4480-B48A-69F701AD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7239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9E6F7"/>
          </a:solidFill>
          <a:ln xmlns:a="http://schemas.openxmlformats.org/drawingml/2006/main" w="11430">
            <a:solidFill>
              <a:srgbClr val="D3DC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69902-C2F2-40C7-A6C7-0A1CAC1B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526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3A70"/>
                </a:solidFill>
              </a:defRPr>
            </a:pPr>
            <a:r>
              <a:rPr sz="2025" b="1">
                <a:solidFill>
                  <a:srgbClr val="163A70"/>
                </a:solidFill>
              </a:rPr>
              <a:t>1.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8BE41-4393-4021-B6A5-B8D72D3F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695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认识 Floorplan：从逻辑网表到物理骨架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639E8-1208-49AF-A33E-F3CDB881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812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26174"/>
                </a:solidFill>
              </a:defRPr>
            </a:pPr>
            <a:r>
              <a:rPr sz="1163" b="0">
                <a:solidFill>
                  <a:srgbClr val="526174"/>
                </a:solidFill>
              </a:rPr>
              <a:t>目标、全芯片视角、输入输出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AD54E2-359F-4837-A413-B2349A16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7239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9E6F7"/>
          </a:solidFill>
          <a:ln xmlns:a="http://schemas.openxmlformats.org/drawingml/2006/main" w="11430">
            <a:solidFill>
              <a:srgbClr val="D3DC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584252-B771-4C6B-91B2-E9C252E2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3A70"/>
                </a:solidFill>
              </a:defRPr>
            </a:pPr>
            <a:r>
              <a:rPr sz="2025" b="1">
                <a:solidFill>
                  <a:srgbClr val="163A70"/>
                </a:solidFill>
              </a:rPr>
              <a:t>2.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443B55-8FAB-44F2-843D-1FD92FEF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52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几何、可布线性与空间约束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17677-BD19-41BC-947D-C0840B78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384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26174"/>
                </a:solidFill>
              </a:defRPr>
            </a:pPr>
            <a:r>
              <a:rPr sz="1163" b="0">
                <a:solidFill>
                  <a:srgbClr val="526174"/>
                </a:solidFill>
              </a:rPr>
              <a:t>IO、尺寸、利用率、宏、区域与阻挡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4CF3CA-17F0-40F7-8980-F3CE8B03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7239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9E6F7"/>
          </a:solidFill>
          <a:ln xmlns:a="http://schemas.openxmlformats.org/drawingml/2006/main" w="11430">
            <a:solidFill>
              <a:srgbClr val="D3DC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014BBE-CEA6-419C-B92E-C3A9495F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671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3A70"/>
                </a:solidFill>
              </a:defRPr>
            </a:pPr>
            <a:r>
              <a:rPr sz="2025" b="1">
                <a:solidFill>
                  <a:srgbClr val="163A70"/>
                </a:solidFill>
              </a:rPr>
              <a:t>3.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39321F-FF8C-412A-9886-67252D70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09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层次化接口与时序预算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26F444-CA40-4C39-9149-461AF4C6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95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26174"/>
                </a:solidFill>
              </a:defRPr>
            </a:pPr>
            <a:r>
              <a:rPr sz="1163" b="0">
                <a:solidFill>
                  <a:srgbClr val="526174"/>
                </a:solidFill>
              </a:rPr>
              <a:t>扁平/层次化、时序预算、ILM、引脚与穿通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3237D8-6A18-4273-AB77-50147381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7239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8E0C2"/>
          </a:solidFill>
          <a:ln xmlns:a="http://schemas.openxmlformats.org/drawingml/2006/main" w="11430">
            <a:solidFill>
              <a:srgbClr val="C46A1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B6FA4B-E0DD-4A7E-86B1-8CC06293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24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46A18"/>
                </a:solidFill>
              </a:defRPr>
            </a:pPr>
            <a:r>
              <a:rPr sz="2025" b="1">
                <a:solidFill>
                  <a:srgbClr val="C46A18"/>
                </a:solidFill>
              </a:rPr>
              <a:t>4.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4F7DBB-2F01-4ED6-8B7D-C71DEA5B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67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电源规划与完整性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C50A60-4D36-40E6-A106-C41A799E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52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26174"/>
                </a:solidFill>
              </a:defRPr>
            </a:pPr>
            <a:r>
              <a:rPr sz="1163" b="0">
                <a:solidFill>
                  <a:srgbClr val="526174"/>
                </a:solidFill>
              </a:rPr>
              <a:t>IR、EM、电源分布、电源网格与宏位置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0E6896-0C57-449B-A3E1-FC0B0552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7239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9F0F2"/>
          </a:solidFill>
          <a:ln xmlns:a="http://schemas.openxmlformats.org/drawingml/2006/main" w="11430">
            <a:solidFill>
              <a:srgbClr val="D3DC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8035B8-093E-4318-AB13-BD9E365C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816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3A70"/>
                </a:solidFill>
              </a:defRPr>
            </a:pPr>
            <a:r>
              <a:rPr sz="2025" b="1">
                <a:solidFill>
                  <a:srgbClr val="163A70"/>
                </a:solidFill>
              </a:rPr>
              <a:t>5.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DF2219-3D7C-4ED9-928E-74FDBDEF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24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工具流程与调试收束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D3A5AF-7BB8-4D59-89D1-05F38372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02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26174"/>
                </a:solidFill>
              </a:defRPr>
            </a:pPr>
            <a:r>
              <a:rPr sz="1163" b="0">
                <a:solidFill>
                  <a:srgbClr val="526174"/>
                </a:solidFill>
              </a:rPr>
              <a:t>Innovus 步骤、调试反查与判断标准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411a0f3e44919"/>
          <a:stretch xmlns:a="http://schemas.openxmlformats.org/drawingml/2006/main"/>
        </p:blipFill>
        <p:spPr>
          <a:xfrm xmlns:a="http://schemas.openxmlformats.org/drawingml/2006/main">
            <a:off x="8334375" y="1853181"/>
            <a:ext cx="3143250" cy="2808739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E008BE-4C64-494A-995E-0F7E4EEF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4350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A70"/>
                </a:solidFill>
              </a:defRPr>
            </a:pPr>
            <a:r>
              <a:rPr sz="1350" b="1">
                <a:solidFill>
                  <a:srgbClr val="163A70"/>
                </a:solidFill>
              </a:rPr>
              <a:t>小节号就是页标题：1.1 到 5.2 按工程决策顺序展开</a:t>
            </a:r>
          </a:p>
        </p:txBody>
      </p:sp>
    </p:spTree>
    <p:extLst>
      <p:ext uri="{BB962C8B-B14F-4D97-AF65-F5344CB8AC3E}">
        <p14:creationId xmlns:p14="http://schemas.microsoft.com/office/powerpoint/2010/main" val="2782795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4E6652-C19C-44A2-A206-A45A261F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B2DCB-D62E-4D1E-A417-C66F1329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C89"/>
                </a:solidFill>
              </a:defRPr>
            </a:pPr>
            <a:r>
              <a:rPr sz="1200" b="1">
                <a:solidFill>
                  <a:srgbClr val="087C89"/>
                </a:solidFill>
              </a:rPr>
              <a:t>第 1 章 · 认识 Floorplan：从逻辑网表到物理骨架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894974-277E-45F5-B43C-48658EDB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1.3 · 3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8C52E-20DB-422C-88C7-544D1B27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1.3 布图规划的目标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908E7-1321-415D-9A4C-50F9EA54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4"/>
                </a:solidFill>
              </a:defRPr>
            </a:pPr>
            <a:r>
              <a:rPr sz="1500" b="0">
                <a:solidFill>
                  <a:srgbClr val="526174"/>
                </a:solidFill>
              </a:rPr>
              <a:t>在面积、延迟和拥塞之间做第一轮取舍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80956-AC77-43FC-8B9C-98E4D96F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6291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核心目标：面积尽量小、延迟尽量低、布线拥塞尽量少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面积压得太紧会推高拥塞，也会压缩时序优化空间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通道留得太宽会浪费面积，电源网格加得太强会挤占信号线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好的布图规划不是单目标最优，而是让后续实现可收敛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92f38ce145468b"/>
          <a:stretch xmlns:a="http://schemas.openxmlformats.org/drawingml/2006/main"/>
        </p:blipFill>
        <p:spPr>
          <a:xfrm xmlns:a="http://schemas.openxmlformats.org/drawingml/2006/main">
            <a:off x="6020835" y="1543050"/>
            <a:ext cx="5150956" cy="3905250"/>
          </a:xfrm>
          <a:prstGeom xmlns:a="http://schemas.openxmlformats.org/drawingml/2006/main" prst="roundRect">
            <a:avLst>
              <a:gd name="adj" fmla="val 1951"/>
            </a:avLst>
          </a:prstGeom>
        </p:spPr>
      </p:pic>
    </p:spTree>
    <p:extLst>
      <p:ext uri="{BB962C8B-B14F-4D97-AF65-F5344CB8AC3E}">
        <p14:creationId xmlns:p14="http://schemas.microsoft.com/office/powerpoint/2010/main" val="13048719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59C310-EBEE-4AF0-892E-3E1E369B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C2323-8F78-41F9-B423-BD55E74B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C89"/>
                </a:solidFill>
              </a:defRPr>
            </a:pPr>
            <a:r>
              <a:rPr sz="1200" b="1">
                <a:solidFill>
                  <a:srgbClr val="087C89"/>
                </a:solidFill>
              </a:rPr>
              <a:t>第 1 章 · 认识 Floorplan：从逻辑网表到物理骨架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71F80-BC9E-43CB-B1A5-612BB04D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1.4 · 4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A117A-DB89-4FAC-ACCA-8CADE741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1.4 全芯片设计视角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40581-19EA-4E22-AB7B-1E49D8AF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4"/>
                </a:solidFill>
              </a:defRPr>
            </a:pPr>
            <a:r>
              <a:rPr sz="1500" b="0">
                <a:solidFill>
                  <a:srgbClr val="526174"/>
                </a:solidFill>
              </a:rPr>
              <a:t>布图规划要同时组织会互相抢空间的对象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AE244-4BC6-4701-B38D-66BF9C16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IO 在外圈，核心逻辑在内部，宏单元切割标准单元区域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电源网格还要从焊盘把电送到每个单元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越早把空间组织清楚，后续返工成本越低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00100" y="2438400"/>
          <a:ext xmlns:a="http://schemas.openxmlformats.org/drawingml/2006/main" cx="1038225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44453"/>
                <a:gridCol w="7137797"/>
              </a:tblGrid>
              <a:tr h="590550"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FFFFFF"/>
                          </a:solidFill>
                        </a:rPr>
                        <a:t>对象</a:t>
                      </a:r>
                    </a:p>
                  </a:txBody>
                  <a:tcPr marL="76200" marR="76200" marT="47625" marB="47625" anchor="ctr">
                    <a:solidFill>
                      <a:srgbClr val="163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FFFFFF"/>
                          </a:solidFill>
                        </a:rPr>
                        <a:t>布图规划要回答的问题</a:t>
                      </a:r>
                    </a:p>
                  </a:txBody>
                  <a:tcPr marL="76200" marR="76200" marT="47625" marB="47625" anchor="ctr">
                    <a:solidFill>
                      <a:srgbClr val="163A70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芯片尺寸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晶粒、核心区、长宽比、目标利用率如何定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IO 与封装</a:t>
                      </a:r>
                    </a:p>
                  </a:txBody>
                  <a:tcPr marL="76200" marR="76200" marT="47625" marB="47625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焊盘顺序、供电边、封装连接是否可行</a:t>
                      </a:r>
                    </a:p>
                  </a:txBody>
                  <a:tcPr marL="76200" marR="76200" marT="47625" marB="47625" anchor="ctr">
                    <a:solidFill>
                      <a:srgbClr val="EEF3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宏单元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数据流、引脚方向、通道、电源入口如何协调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电源与时钟</a:t>
                      </a:r>
                    </a:p>
                  </a:txBody>
                  <a:tcPr marL="76200" marR="76200" marT="47625" marB="47625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电源网格、时钟通道、多电压资源如何预留</a:t>
                      </a:r>
                    </a:p>
                  </a:txBody>
                  <a:tcPr marL="76200" marR="76200" marT="47625" marB="47625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51542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5446C4-3DEB-4192-88C4-5E89D2E2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E8201D-026F-4D75-BF11-6073D84E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C89"/>
                </a:solidFill>
              </a:defRPr>
            </a:pPr>
            <a:r>
              <a:rPr sz="1200" b="1">
                <a:solidFill>
                  <a:srgbClr val="087C89"/>
                </a:solidFill>
              </a:rPr>
              <a:t>第 1 章 · 认识 Floorplan：从逻辑网表到物理骨架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77F8B-8616-45EB-8936-D3D75F56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1.5 · 5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EDAB4-63C1-422F-B234-F0289B5F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1.5 输入、输出与设计导入前提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78464-FA0B-4782-90DD-64936E79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4"/>
                </a:solidFill>
              </a:defRPr>
            </a:pPr>
            <a:r>
              <a:rPr sz="1500" b="0">
                <a:solidFill>
                  <a:srgbClr val="526174"/>
                </a:solidFill>
              </a:rPr>
              <a:t>输出必须具体到工具数据库能继续布局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AF30E-1FA3-4EF3-811A-E42EBFF7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4857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• 输出包括晶粒或模块面积、IO、硬宏、标准单元可放置区域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• 电源网格、预布线、阻挡、宏周边留白和区域约束要落入数据库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• 还需要早期可布线性、时序和电源完整性评估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3067050"/>
          <a:ext xmlns:a="http://schemas.openxmlformats.org/drawingml/2006/main" cx="50482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77578"/>
                <a:gridCol w="3470672"/>
              </a:tblGrid>
              <a:tr h="502920"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FFFFFF"/>
                          </a:solidFill>
                        </a:rPr>
                        <a:t>输入</a:t>
                      </a:r>
                    </a:p>
                  </a:txBody>
                  <a:tcPr marL="76200" marR="76200" marT="47625" marB="47625" anchor="ctr">
                    <a:solidFill>
                      <a:srgbClr val="163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FFFFFF"/>
                          </a:solidFill>
                        </a:rPr>
                        <a:t>作用</a:t>
                      </a:r>
                    </a:p>
                  </a:txBody>
                  <a:tcPr marL="76200" marR="76200" marT="47625" marB="47625" anchor="ctr">
                    <a:solidFill>
                      <a:srgbClr val="163A7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设计网表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提供实例和连接关系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面积/电源需求</a:t>
                      </a:r>
                    </a:p>
                  </a:txBody>
                  <a:tcPr marL="76200" marR="76200" marT="47625" marB="47625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估算核心区、宏空间和电源网格</a:t>
                      </a:r>
                    </a:p>
                  </a:txBody>
                  <a:tcPr marL="76200" marR="76200" marT="47625" marB="47625" anchor="ctr"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时序约束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影响模块划分、引脚分配和宏数据流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物理分区与 IO 提示</a:t>
                      </a:r>
                    </a:p>
                  </a:txBody>
                  <a:tcPr marL="76200" marR="76200" marT="47625" marB="47625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减少初期迭代成本</a:t>
                      </a:r>
                    </a:p>
                  </a:txBody>
                  <a:tcPr marL="76200" marR="76200" marT="47625" marB="47625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284ccbe4be4e0f"/>
          <a:stretch xmlns:a="http://schemas.openxmlformats.org/drawingml/2006/main"/>
        </p:blipFill>
        <p:spPr>
          <a:xfrm xmlns:a="http://schemas.openxmlformats.org/drawingml/2006/main">
            <a:off x="6805613" y="1581150"/>
            <a:ext cx="3962400" cy="3657600"/>
          </a:xfrm>
          <a:prstGeom xmlns:a="http://schemas.openxmlformats.org/drawingml/2006/main" prst="roundRect">
            <a:avLst>
              <a:gd name="adj" fmla="val 2083"/>
            </a:avLst>
          </a:prstGeom>
        </p:spPr>
      </p:pic>
    </p:spTree>
    <p:extLst>
      <p:ext uri="{BB962C8B-B14F-4D97-AF65-F5344CB8AC3E}">
        <p14:creationId xmlns:p14="http://schemas.microsoft.com/office/powerpoint/2010/main" val="530943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50CF1E-C0BC-4EEB-9D7E-7606F2B2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54A68-EE15-42AA-9347-3627A921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C89"/>
                </a:solidFill>
              </a:defRPr>
            </a:pPr>
            <a:r>
              <a:rPr sz="1200" b="1">
                <a:solidFill>
                  <a:srgbClr val="087C89"/>
                </a:solidFill>
              </a:rPr>
              <a:t>第 2 章 · 几何、可布线性与空间约束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9CE42-0FCB-4116-8084-452B0631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2.1 · 6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B9D70-81BB-40A8-A15E-CD91863A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2.1 IO 环与芯片尺寸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7B8F2-D0A6-402D-B783-742550F6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4"/>
                </a:solidFill>
              </a:defRPr>
            </a:pPr>
            <a:r>
              <a:rPr sz="1500" b="0">
                <a:solidFill>
                  <a:srgbClr val="526174"/>
                </a:solidFill>
              </a:rPr>
              <a:t>先判断核心受限还是焊盘受限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99DB2D-BAEA-4B8B-9446-56057B65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6291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IO 单元和焊盘面积昂贵，不会像核心逻辑那样快速缩小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IO 同时承担外部信号、电源焊盘和地焊盘规划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核心受限：逻辑规模、宏单元和布线资源决定芯片大小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焊盘受限：IO 数量、焊盘间距和封装要求决定晶粒下限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7bb9299edf4c60"/>
          <a:stretch xmlns:a="http://schemas.openxmlformats.org/drawingml/2006/main"/>
        </p:blipFill>
        <p:spPr>
          <a:xfrm xmlns:a="http://schemas.openxmlformats.org/drawingml/2006/main">
            <a:off x="6208509" y="1543050"/>
            <a:ext cx="4775606" cy="3905250"/>
          </a:xfrm>
          <a:prstGeom xmlns:a="http://schemas.openxmlformats.org/drawingml/2006/main" prst="roundRect">
            <a:avLst>
              <a:gd name="adj" fmla="val 1951"/>
            </a:avLst>
          </a:prstGeom>
        </p:spPr>
      </p:pic>
    </p:spTree>
    <p:extLst>
      <p:ext uri="{BB962C8B-B14F-4D97-AF65-F5344CB8AC3E}">
        <p14:creationId xmlns:p14="http://schemas.microsoft.com/office/powerpoint/2010/main" val="3296407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71D906-B51E-4228-B2CF-4B194C30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220BB-A93F-4DDA-AA09-E47E2A79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C89"/>
                </a:solidFill>
              </a:defRPr>
            </a:pPr>
            <a:r>
              <a:rPr sz="1200" b="1">
                <a:solidFill>
                  <a:srgbClr val="087C89"/>
                </a:solidFill>
              </a:rPr>
              <a:t>第 2 章 · 几何、可布线性与空间约束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2A01B-2706-4063-964A-311BA999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2.2 · 7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222424-D937-4E00-9144-011A6CDD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2.2 利用率与试布线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A8C5B-931F-4C4D-A078-5A2E51A8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4"/>
                </a:solidFill>
              </a:defRPr>
            </a:pPr>
            <a:r>
              <a:rPr sz="1500" b="0">
                <a:solidFill>
                  <a:srgbClr val="526174"/>
                </a:solidFill>
              </a:rPr>
              <a:t>利用率只是起点，拥塞要靠试布线反馈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F2BB7-5E3A-486B-BCE7-43748920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6291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标准单元利用率常从 70% 左右试起，但不是固定规则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宏多、引脚密、布线层紧张或时序困难时，需要更低利用率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局部引脚密度可能比全局利用率更危险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用快速试布线或全局布线估计拥塞，再回调核心区和约束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d93c2bb7e474c"/>
          <a:stretch xmlns:a="http://schemas.openxmlformats.org/drawingml/2006/main"/>
        </p:blipFill>
        <p:spPr>
          <a:xfrm xmlns:a="http://schemas.openxmlformats.org/drawingml/2006/main">
            <a:off x="6029116" y="1543050"/>
            <a:ext cx="5134392" cy="3905250"/>
          </a:xfrm>
          <a:prstGeom xmlns:a="http://schemas.openxmlformats.org/drawingml/2006/main" prst="roundRect">
            <a:avLst>
              <a:gd name="adj" fmla="val 1951"/>
            </a:avLst>
          </a:prstGeom>
        </p:spPr>
      </p:pic>
    </p:spTree>
    <p:extLst>
      <p:ext uri="{BB962C8B-B14F-4D97-AF65-F5344CB8AC3E}">
        <p14:creationId xmlns:p14="http://schemas.microsoft.com/office/powerpoint/2010/main" val="6593040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793ED1-F528-44D0-B40F-728BC734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DD849-F0BE-4FF0-9EEF-FCD5CA99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C89"/>
                </a:solidFill>
              </a:defRPr>
            </a:pPr>
            <a:r>
              <a:rPr sz="1200" b="1">
                <a:solidFill>
                  <a:srgbClr val="087C89"/>
                </a:solidFill>
              </a:rPr>
              <a:t>第 2 章 · 几何、可布线性与空间约束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FDA2D-77A6-4947-97BB-0548BA07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2.3 · 8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D3389-BEDF-4182-8455-5FB94B52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2.3 网表唯一化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758F9-7C47-4340-BFC9-DDD5B56B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4"/>
                </a:solidFill>
              </a:defRPr>
            </a:pPr>
            <a:r>
              <a:rPr sz="1500" b="0">
                <a:solidFill>
                  <a:srgbClr val="526174"/>
                </a:solidFill>
              </a:rPr>
              <a:t>进入物理域前，实例必须能被独立优化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2D2509-5684-4A37-9407-1A3BD3FD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5057775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D9F0F2"/>
          </a:solidFill>
          <a:ln xmlns:a="http://schemas.openxmlformats.org/drawingml/2006/main" w="11430">
            <a:solidFill>
              <a:srgbClr val="D3DC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667BD-BA11-43E8-ABA6-59538C57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43100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C89"/>
                </a:solidFill>
              </a:defRPr>
            </a:pPr>
            <a:r>
              <a:rPr sz="1725" b="1">
                <a:solidFill>
                  <a:srgbClr val="087C89"/>
                </a:solidFill>
              </a:rPr>
              <a:t>未唯一化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CDCD7-F55B-4F72-8D85-ABADAAE0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4524375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多个实例共享同一个模块定义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工具优化一个实例内部单元时，可能同时影响另一个实例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物理优化无法安全按实例移动、缓冲或重构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DFB8C5-C989-4505-A055-7035BD14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714500"/>
            <a:ext cx="5057775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D9E6F7"/>
          </a:solidFill>
          <a:ln xmlns:a="http://schemas.openxmlformats.org/drawingml/2006/main" w="11430">
            <a:solidFill>
              <a:srgbClr val="D3DC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15A54A-B345-445E-AB50-354F9B5E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943100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A70"/>
                </a:solidFill>
              </a:defRPr>
            </a:pPr>
            <a:r>
              <a:rPr sz="1725" b="1">
                <a:solidFill>
                  <a:srgbClr val="163A70"/>
                </a:solidFill>
              </a:rPr>
              <a:t>唯一化后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24257-A6B6-44DB-8B0C-2B3C13A1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00300"/>
            <a:ext cx="4524375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每个子模块只被引用一次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`m1/u1` 与 `m2/u1` 可被独立处理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综合工具或设计导入阶段通常会完成这一步</a:t>
            </a:r>
          </a:p>
        </p:txBody>
      </p:sp>
    </p:spTree>
    <p:extLst>
      <p:ext uri="{BB962C8B-B14F-4D97-AF65-F5344CB8AC3E}">
        <p14:creationId xmlns:p14="http://schemas.microsoft.com/office/powerpoint/2010/main" val="10510451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76FC09-9759-4FA7-9CD1-51B2E281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EF079-E99A-4A42-8B90-662D5AA0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C89"/>
                </a:solidFill>
              </a:defRPr>
            </a:pPr>
            <a:r>
              <a:rPr sz="1200" b="1">
                <a:solidFill>
                  <a:srgbClr val="087C89"/>
                </a:solidFill>
              </a:rPr>
              <a:t>第 2 章 · 几何、可布线性与空间约束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C6BBE-D0BA-44CA-9C9A-27BA06E4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2.4 · 9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B0515-29A2-4750-BD94-B4799DE6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2.4 硬宏摆放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A86A7-F5C7-4980-8694-3553B7B7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4"/>
                </a:solidFill>
              </a:defRPr>
            </a:pPr>
            <a:r>
              <a:rPr sz="1500" b="0">
                <a:solidFill>
                  <a:srgbClr val="526174"/>
                </a:solidFill>
              </a:rPr>
              <a:t>大而固定的宏单元决定标准单元区域是否可用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94C0B-2D13-4912-9A42-645D2749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6291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硬宏包括 SRAM、ROM、PLL、模拟 IP 和第三方硬核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面积、形状、引脚位置固定，通常先摆宏再放标准单元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大宏尽量靠边或靠角，保持核心区有连续的大矩形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宏之间要留足信号通道、电源条和过孔阵列空间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9db8d4d81c425c"/>
          <a:stretch xmlns:a="http://schemas.openxmlformats.org/drawingml/2006/main"/>
        </p:blipFill>
        <p:spPr>
          <a:xfrm xmlns:a="http://schemas.openxmlformats.org/drawingml/2006/main">
            <a:off x="5916315" y="1543050"/>
            <a:ext cx="5359995" cy="3905250"/>
          </a:xfrm>
          <a:prstGeom xmlns:a="http://schemas.openxmlformats.org/drawingml/2006/main" prst="roundRect">
            <a:avLst>
              <a:gd name="adj" fmla="val 1951"/>
            </a:avLst>
          </a:prstGeom>
        </p:spPr>
      </p:pic>
    </p:spTree>
    <p:extLst>
      <p:ext uri="{BB962C8B-B14F-4D97-AF65-F5344CB8AC3E}">
        <p14:creationId xmlns:p14="http://schemas.microsoft.com/office/powerpoint/2010/main" val="16112934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686031-7EE5-4E63-BE0E-FACCF707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B686F-26F2-407A-A89D-90602244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C89"/>
                </a:solidFill>
              </a:defRPr>
            </a:pPr>
            <a:r>
              <a:rPr sz="1200" b="1">
                <a:solidFill>
                  <a:srgbClr val="087C89"/>
                </a:solidFill>
              </a:rPr>
              <a:t>第 2 章 · 几何、可布线性与空间约束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85B97-FDA2-4E30-96DA-398BD9DC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2.5 · 10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864A6-5E8C-4CEC-AA74-47132EE3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2.5 布局区域：表达放置意图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F250D9-2FA9-4396-B3BB-CA0838B1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4"/>
                </a:solidFill>
              </a:defRPr>
            </a:pPr>
            <a:r>
              <a:rPr sz="1500" b="0">
                <a:solidFill>
                  <a:srgbClr val="526174"/>
                </a:solidFill>
              </a:rPr>
              <a:t>约束越硬，工具自由度越低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B93722-12D3-4A7F-AD42-3F850210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区域约束应表达真实设计意图，而不是替工具过早做死选择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能用软约束解决的问题，不要直接上硬围栏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00100" y="2438400"/>
          <a:ext xmlns:a="http://schemas.openxmlformats.org/drawingml/2006/main" cx="1038225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37883"/>
                <a:gridCol w="4152900"/>
                <a:gridCol w="3691467"/>
              </a:tblGrid>
              <a:tr h="590550"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FFFFFF"/>
                          </a:solidFill>
                        </a:rPr>
                        <a:t>类型</a:t>
                      </a:r>
                    </a:p>
                  </a:txBody>
                  <a:tcPr marL="76200" marR="76200" marT="47625" marB="47625" anchor="ctr">
                    <a:solidFill>
                      <a:srgbClr val="163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FFFFFF"/>
                          </a:solidFill>
                        </a:rPr>
                        <a:t>约束含义</a:t>
                      </a:r>
                    </a:p>
                  </a:txBody>
                  <a:tcPr marL="76200" marR="76200" marT="47625" marB="47625" anchor="ctr">
                    <a:solidFill>
                      <a:srgbClr val="163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FFFFFF"/>
                          </a:solidFill>
                        </a:rPr>
                        <a:t>风险</a:t>
                      </a:r>
                    </a:p>
                  </a:txBody>
                  <a:tcPr marL="76200" marR="76200" marT="47625" marB="47625" anchor="ctr">
                    <a:solidFill>
                      <a:srgbClr val="163A70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软引导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尽量聚在一起，不定义硬区域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影响最小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引导区域</a:t>
                      </a:r>
                    </a:p>
                  </a:txBody>
                  <a:tcPr marL="76200" marR="76200" marT="47625" marB="47625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尽量放进指定区域</a:t>
                      </a:r>
                    </a:p>
                  </a:txBody>
                  <a:tcPr marL="76200" marR="76200" marT="47625" marB="47625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可能形成局部拥塞</a:t>
                      </a:r>
                    </a:p>
                  </a:txBody>
                  <a:tcPr marL="76200" marR="76200" marT="47625" marB="47625" anchor="ctr">
                    <a:solidFill>
                      <a:srgbClr val="EEF3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区域约束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指定单元必须在区域内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限制优化自由度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围栏约束</a:t>
                      </a:r>
                    </a:p>
                  </a:txBody>
                  <a:tcPr marL="76200" marR="76200" marT="47625" marB="47625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指定单元在内，其他单元不能进</a:t>
                      </a:r>
                    </a:p>
                  </a:txBody>
                  <a:tcPr marL="76200" marR="76200" marT="47625" marB="47625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最容易人为制造瓶颈</a:t>
                      </a:r>
                    </a:p>
                  </a:txBody>
                  <a:tcPr marL="76200" marR="76200" marT="47625" marB="47625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67101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F405C1-FFD5-466A-9EB3-0B290A93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0CC35-9A50-41A0-B85A-B4C1794B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C89"/>
                </a:solidFill>
              </a:defRPr>
            </a:pPr>
            <a:r>
              <a:rPr sz="1200" b="1">
                <a:solidFill>
                  <a:srgbClr val="087C89"/>
                </a:solidFill>
              </a:rPr>
              <a:t>第 2 章 · 几何、可布线性与空间约束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BE28A-F62C-41B1-A0DC-C4DA3A0B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2.6 · 11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2999C-AF9C-4C64-A7FF-45F09E1B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2.6 布局阻挡与宏周边留白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9FD4D2-EC14-435E-ACD8-8EABC0FD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4"/>
                </a:solidFill>
              </a:defRPr>
            </a:pPr>
            <a:r>
              <a:rPr sz="1500" b="0">
                <a:solidFill>
                  <a:srgbClr val="526174"/>
                </a:solidFill>
              </a:rPr>
              <a:t>控制“哪里不能放”和“宏边要留多少空间”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42AAD-FB0F-476F-9685-0FA1AF45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6291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硬阻挡：完全禁止放标准单元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软阻挡：布局阶段禁用，优化阶段可放缓冲器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部分阻挡：降低指定区域最大利用率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宏周边留白跟随宏移动，保护引脚可达性和近宏布线资源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cf021acd44465"/>
          <a:stretch xmlns:a="http://schemas.openxmlformats.org/drawingml/2006/main"/>
        </p:blipFill>
        <p:spPr>
          <a:xfrm xmlns:a="http://schemas.openxmlformats.org/drawingml/2006/main">
            <a:off x="5991436" y="1543050"/>
            <a:ext cx="5209752" cy="3905250"/>
          </a:xfrm>
          <a:prstGeom xmlns:a="http://schemas.openxmlformats.org/drawingml/2006/main" prst="roundRect">
            <a:avLst>
              <a:gd name="adj" fmla="val 1951"/>
            </a:avLst>
          </a:prstGeom>
        </p:spPr>
      </p:pic>
    </p:spTree>
    <p:extLst>
      <p:ext uri="{BB962C8B-B14F-4D97-AF65-F5344CB8AC3E}">
        <p14:creationId xmlns:p14="http://schemas.microsoft.com/office/powerpoint/2010/main" val="13030584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68E510-96B0-4695-8656-B228051B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EAB51-3024-499C-8475-C430ECD9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C89"/>
                </a:solidFill>
              </a:defRPr>
            </a:pPr>
            <a:r>
              <a:rPr sz="1200" b="1">
                <a:solidFill>
                  <a:srgbClr val="087C89"/>
                </a:solidFill>
              </a:rPr>
              <a:t>第 2 章 · 几何、可布线性与空间约束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9CE91-A889-46EB-88F8-6669D9BD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2.7 · 12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598C8-3359-42FB-9C1E-99562CBD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2.7 布线阻挡与好布图规划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07289-071F-4707-B9F0-235DD100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4"/>
                </a:solidFill>
              </a:defRPr>
            </a:pPr>
            <a:r>
              <a:rPr sz="1500" b="0">
                <a:solidFill>
                  <a:srgbClr val="526174"/>
                </a:solidFill>
              </a:rPr>
              <a:t>布线阻挡管“能不能走线”，布局阻挡管“能不能放单元”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00534-C96D-42BB-AC40-3EA47A2E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5057775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D9F0F2"/>
          </a:solidFill>
          <a:ln xmlns:a="http://schemas.openxmlformats.org/drawingml/2006/main" w="11430">
            <a:solidFill>
              <a:srgbClr val="D3DC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7FC0D-27B4-4EE3-A773-D58ADC3C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43100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C89"/>
                </a:solidFill>
              </a:defRPr>
            </a:pPr>
            <a:r>
              <a:rPr sz="1725" b="1">
                <a:solidFill>
                  <a:srgbClr val="087C89"/>
                </a:solidFill>
              </a:rPr>
              <a:t>布线阻挡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6354E8-3EC4-4F06-B34F-54F872CA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4524375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按坐标区域和金属层限制走线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保护宏上方特殊区域或电源资源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避免低层金属被信号线过早占满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FAF51-665F-4DA5-9A24-FF5CF728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714500"/>
            <a:ext cx="5057775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D9E6F7"/>
          </a:solidFill>
          <a:ln xmlns:a="http://schemas.openxmlformats.org/drawingml/2006/main" w="11430">
            <a:solidFill>
              <a:srgbClr val="D3DC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68956-112E-4DB0-9200-E1287620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943100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A70"/>
                </a:solidFill>
              </a:defRPr>
            </a:pPr>
            <a:r>
              <a:rPr sz="1725" b="1">
                <a:solidFill>
                  <a:srgbClr val="163A70"/>
                </a:solidFill>
              </a:rPr>
              <a:t>好布图规划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28F963-7A99-4CB1-A4FD-B8578099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00300"/>
            <a:ext cx="4524375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保持大而连续的标准单元区域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宏通道够宽，引脚不挤角落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必要时旋转宏单元改善引脚可达性</a:t>
            </a:r>
          </a:p>
        </p:txBody>
      </p:sp>
    </p:spTree>
    <p:extLst>
      <p:ext uri="{BB962C8B-B14F-4D97-AF65-F5344CB8AC3E}">
        <p14:creationId xmlns:p14="http://schemas.microsoft.com/office/powerpoint/2010/main" val="2572950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D94283-914C-402D-AC41-8B07109F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A1E2E-BF93-4953-8DBD-C9995CDE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C89"/>
                </a:solidFill>
              </a:defRPr>
            </a:pPr>
            <a:r>
              <a:rPr sz="1200" b="1">
                <a:solidFill>
                  <a:srgbClr val="087C89"/>
                </a:solidFill>
              </a:rPr>
              <a:t>第 3 章 · 层次化接口与时序预算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814CF-A0A7-45E7-B4EE-BD30BC11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3.1 · 13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A1796-3EAC-44D0-9867-9F6A9944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3.1 扁平设计与层次化设计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C2065-B59F-4794-A81D-AC3CFA76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4"/>
                </a:solidFill>
              </a:defRPr>
            </a:pPr>
            <a:r>
              <a:rPr sz="1500" b="0">
                <a:solidFill>
                  <a:srgbClr val="526174"/>
                </a:solidFill>
              </a:rPr>
              <a:t>大设计常把“大问题”拆成“边界规划问题”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E11E6-EC87-41F5-8294-3532CE57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层次化不是让问题消失，而是把问题集中到模块边界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边界规划做不好，模块各自收敛也可能顶层失败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00100" y="2438400"/>
          <a:ext xmlns:a="http://schemas.openxmlformats.org/drawingml/2006/main" cx="1038225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37883"/>
                <a:gridCol w="4152900"/>
                <a:gridCol w="3691467"/>
              </a:tblGrid>
              <a:tr h="984250"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FFFFFF"/>
                          </a:solidFill>
                        </a:rPr>
                        <a:t>方式</a:t>
                      </a:r>
                    </a:p>
                  </a:txBody>
                  <a:tcPr marL="76200" marR="76200" marT="47625" marB="47625" anchor="ctr">
                    <a:solidFill>
                      <a:srgbClr val="163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FFFFFF"/>
                          </a:solidFill>
                        </a:rPr>
                        <a:t>优点</a:t>
                      </a:r>
                    </a:p>
                  </a:txBody>
                  <a:tcPr marL="76200" marR="76200" marT="47625" marB="47625" anchor="ctr">
                    <a:solidFill>
                      <a:srgbClr val="163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FFFFFF"/>
                          </a:solidFill>
                        </a:rPr>
                        <a:t>代价</a:t>
                      </a:r>
                    </a:p>
                  </a:txBody>
                  <a:tcPr marL="76200" marR="76200" marT="47625" marB="47625" anchor="ctr">
                    <a:solidFill>
                      <a:srgbClr val="163A70"/>
                    </a:solidFill>
                  </a:tcPr>
                </a:tc>
              </a:tr>
              <a:tr h="984250"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扁平实现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全局优化视野完整，接口少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运行时间和内存压力大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984250"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层次化实现</a:t>
                      </a:r>
                    </a:p>
                  </a:txBody>
                  <a:tcPr marL="76200" marR="76200" marT="47625" marB="47625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运行更快、ECO 更短、利于复用</a:t>
                      </a:r>
                    </a:p>
                  </a:txBody>
                  <a:tcPr marL="76200" marR="76200" marT="47625" marB="47625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时序预算、穿通和接口规划更复杂</a:t>
                      </a:r>
                    </a:p>
                  </a:txBody>
                  <a:tcPr marL="76200" marR="76200" marT="47625" marB="47625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95772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243597-BCEF-4356-BDEC-A2058E42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7FD3A-0CAE-4BE1-9BDA-2486B36C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C89"/>
                </a:solidFill>
              </a:defRPr>
            </a:pPr>
            <a:r>
              <a:rPr sz="1200" b="1">
                <a:solidFill>
                  <a:srgbClr val="087C89"/>
                </a:solidFill>
              </a:rPr>
              <a:t>第 3 章 · 层次化接口与时序预算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2E419-33BD-4316-AF97-878AE691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3.2 · 14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5A060F-FA5B-4019-A1AF-E17B24A9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3.2 时序预算与 ILM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F48896-E7A9-4A21-9127-9F04486D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4"/>
                </a:solidFill>
              </a:defRPr>
            </a:pPr>
            <a:r>
              <a:rPr sz="1500" b="0">
                <a:solidFill>
                  <a:srgbClr val="526174"/>
                </a:solidFill>
              </a:rPr>
              <a:t>把顶层路径时间正确拆到模块边界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7710B-2C97-41FE-A8EE-8AB1841B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6291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顶层输入/输出约束要映射成模块级边界约束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预算合理，模块独立收敛后顶层更容易收敛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预算不合理，单模块通过也可能顶层失败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ILM 保留接口时序相关逻辑，隐藏模块内部细节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ba51f899bd461c"/>
          <a:stretch xmlns:a="http://schemas.openxmlformats.org/drawingml/2006/main"/>
        </p:blipFill>
        <p:spPr>
          <a:xfrm xmlns:a="http://schemas.openxmlformats.org/drawingml/2006/main">
            <a:off x="5871719" y="1543050"/>
            <a:ext cx="5449186" cy="3905250"/>
          </a:xfrm>
          <a:prstGeom xmlns:a="http://schemas.openxmlformats.org/drawingml/2006/main" prst="roundRect">
            <a:avLst>
              <a:gd name="adj" fmla="val 1951"/>
            </a:avLst>
          </a:prstGeom>
        </p:spPr>
      </p:pic>
    </p:spTree>
    <p:extLst>
      <p:ext uri="{BB962C8B-B14F-4D97-AF65-F5344CB8AC3E}">
        <p14:creationId xmlns:p14="http://schemas.microsoft.com/office/powerpoint/2010/main" val="12182522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47AA6D-3264-4603-A41E-170E7E15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B0C3FD-0CE1-47E5-AFEF-26A10D5A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C89"/>
                </a:solidFill>
              </a:defRPr>
            </a:pPr>
            <a:r>
              <a:rPr sz="1200" b="1">
                <a:solidFill>
                  <a:srgbClr val="087C89"/>
                </a:solidFill>
              </a:rPr>
              <a:t>第 3 章 · 层次化接口与时序预算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6618D-032D-4EB5-9026-4B447E64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3.3 · 15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34860-DE97-4186-B009-2F035F28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3.3 引脚分配与穿通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0AE70-26AF-48F9-A801-A8744AF7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4"/>
                </a:solidFill>
              </a:defRPr>
            </a:pPr>
            <a:r>
              <a:rPr sz="1500" b="0">
                <a:solidFill>
                  <a:srgbClr val="526174"/>
                </a:solidFill>
              </a:rPr>
              <a:t>边界引脚位置直接影响块间走线和时序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74649-3DB0-4FA1-A142-539532E5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6291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块级引脚约束包括层、间距、尺寸、网络分组和引脚引导区域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可按飞线、试布线和边界穿越情况自动分配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引脚不宜挤在角落，角落处布线方向变化多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穿通把跨模块连接拆成几段，避免信号绕过整个模块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008cbd2534480"/>
          <a:stretch xmlns:a="http://schemas.openxmlformats.org/drawingml/2006/main"/>
        </p:blipFill>
        <p:spPr>
          <a:xfrm xmlns:a="http://schemas.openxmlformats.org/drawingml/2006/main">
            <a:off x="5821298" y="1543050"/>
            <a:ext cx="5550029" cy="3905250"/>
          </a:xfrm>
          <a:prstGeom xmlns:a="http://schemas.openxmlformats.org/drawingml/2006/main" prst="roundRect">
            <a:avLst>
              <a:gd name="adj" fmla="val 1951"/>
            </a:avLst>
          </a:prstGeom>
        </p:spPr>
      </p:pic>
    </p:spTree>
    <p:extLst>
      <p:ext uri="{BB962C8B-B14F-4D97-AF65-F5344CB8AC3E}">
        <p14:creationId xmlns:p14="http://schemas.microsoft.com/office/powerpoint/2010/main" val="13590917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B2C1A7-4827-4C28-B4DC-41F996B6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5085E4-F5F1-4E57-957F-E01ED25A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6A18"/>
                </a:solidFill>
              </a:defRPr>
            </a:pPr>
            <a:r>
              <a:rPr sz="1200" b="1">
                <a:solidFill>
                  <a:srgbClr val="C46A18"/>
                </a:solidFill>
              </a:rPr>
              <a:t>第 4 章 · 电源规划与完整性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B90EF-074A-449F-A364-1CB7AB35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4.1 · 16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57EE3-44CE-4493-AC5F-4398F32F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4.1 电源规划：功耗与可靠性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B9FAA8-B0CA-4E3C-8430-4977859D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4"/>
                </a:solidFill>
              </a:defRPr>
            </a:pPr>
            <a:r>
              <a:rPr sz="1500" b="0">
                <a:solidFill>
                  <a:srgbClr val="526174"/>
                </a:solidFill>
              </a:rPr>
              <a:t>电源规划是布图规划阶段就要开始的结构设计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58AA78-B1AE-415B-8497-0A8F7C7D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6291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不仅连上 VDD/GND，还要控制动态功耗、漏电、IR 压降和电迁移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宏单元位置、电源焊盘、金属层选择和电源条参数都会影响供电质量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电源网格与布图规划本身共同决定 IR/EM 风险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越早规划，越少在签核阶段被迫返工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f580ffa5cc4bd7"/>
          <a:stretch xmlns:a="http://schemas.openxmlformats.org/drawingml/2006/main"/>
        </p:blipFill>
        <p:spPr>
          <a:xfrm xmlns:a="http://schemas.openxmlformats.org/drawingml/2006/main">
            <a:off x="5916315" y="1543050"/>
            <a:ext cx="5359995" cy="3905250"/>
          </a:xfrm>
          <a:prstGeom xmlns:a="http://schemas.openxmlformats.org/drawingml/2006/main" prst="roundRect">
            <a:avLst>
              <a:gd name="adj" fmla="val 1951"/>
            </a:avLst>
          </a:prstGeom>
        </p:spPr>
      </p:pic>
    </p:spTree>
    <p:extLst>
      <p:ext uri="{BB962C8B-B14F-4D97-AF65-F5344CB8AC3E}">
        <p14:creationId xmlns:p14="http://schemas.microsoft.com/office/powerpoint/2010/main" val="10504473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E645F3-D115-4153-AF3F-800B2232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E56811-96FB-4825-B00B-A148EC04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6A18"/>
                </a:solidFill>
              </a:defRPr>
            </a:pPr>
            <a:r>
              <a:rPr sz="1200" b="1">
                <a:solidFill>
                  <a:srgbClr val="C46A18"/>
                </a:solidFill>
              </a:rPr>
              <a:t>第 4 章 · 电源规划与完整性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B67E3-9DB7-46E7-B8E3-77086BD9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4.2 · 17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EF69C-ACBF-4927-AA8D-AEFFAC81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4.2 IR 压降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BEB98-277E-408E-9387-7D2327AD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4"/>
                </a:solidFill>
              </a:defRPr>
            </a:pPr>
            <a:r>
              <a:rPr sz="1500" b="0">
                <a:solidFill>
                  <a:srgbClr val="526174"/>
                </a:solidFill>
              </a:rPr>
              <a:t>电源线上掉电压，会直接拖慢单元延迟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34895-F6B1-4130-8BAF-63BF6528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6291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基本关系：压降 = I × R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工具会基于电源网格电阻矩阵和单元电流求节点电压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电压低于容差下限时，单元延迟变大，时序可能失败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严重时不仅时序出问题，也可能造成功能错误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f568e927b4432b"/>
          <a:stretch xmlns:a="http://schemas.openxmlformats.org/drawingml/2006/main"/>
        </p:blipFill>
        <p:spPr>
          <a:xfrm xmlns:a="http://schemas.openxmlformats.org/drawingml/2006/main">
            <a:off x="5833769" y="1543050"/>
            <a:ext cx="5525087" cy="3905250"/>
          </a:xfrm>
          <a:prstGeom xmlns:a="http://schemas.openxmlformats.org/drawingml/2006/main" prst="roundRect">
            <a:avLst>
              <a:gd name="adj" fmla="val 1951"/>
            </a:avLst>
          </a:prstGeom>
        </p:spPr>
      </p:pic>
    </p:spTree>
    <p:extLst>
      <p:ext uri="{BB962C8B-B14F-4D97-AF65-F5344CB8AC3E}">
        <p14:creationId xmlns:p14="http://schemas.microsoft.com/office/powerpoint/2010/main" val="88060324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48DD78-C9BD-4D03-937A-5F6076AC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97D198-1225-4FB6-8624-D1D0296B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6A18"/>
                </a:solidFill>
              </a:defRPr>
            </a:pPr>
            <a:r>
              <a:rPr sz="1200" b="1">
                <a:solidFill>
                  <a:srgbClr val="C46A18"/>
                </a:solidFill>
              </a:rPr>
              <a:t>第 4 章 · 电源规划与完整性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4E14B-54E2-41A9-8EC8-054F3B23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4.3 · 18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29E38-1699-4BB5-892C-43366386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4.3 电迁移 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774D5-2CD6-41C8-BDD5-933E1E91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4"/>
                </a:solidFill>
              </a:defRPr>
            </a:pPr>
            <a:r>
              <a:rPr sz="1500" b="0">
                <a:solidFill>
                  <a:srgbClr val="526174"/>
                </a:solidFill>
              </a:rPr>
              <a:t>长期电流密度决定金属能不能扛住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9FB29-B213-44CA-B5D9-5E640740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5057775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D9F0F2"/>
          </a:solidFill>
          <a:ln xmlns:a="http://schemas.openxmlformats.org/drawingml/2006/main" w="11430">
            <a:solidFill>
              <a:srgbClr val="D3DC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19DA3-3082-4BFD-B8A7-5B2C7D7F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43100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C89"/>
                </a:solidFill>
              </a:defRPr>
            </a:pPr>
            <a:r>
              <a:rPr sz="1725" b="1">
                <a:solidFill>
                  <a:srgbClr val="087C89"/>
                </a:solidFill>
              </a:rPr>
              <a:t>失效机制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294F1-F521-4DB0-B221-EE3CA939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4524375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电子动量推动金属原子迁移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可能形成空洞导致开路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也可能桥接到邻线导致短路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CC70D8-BD13-41F8-889F-80426962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714500"/>
            <a:ext cx="5057775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D9E6F7"/>
          </a:solidFill>
          <a:ln xmlns:a="http://schemas.openxmlformats.org/drawingml/2006/main" w="11430">
            <a:solidFill>
              <a:srgbClr val="D3DC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A23176-C14B-451F-AC56-6C3B165F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943100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A70"/>
                </a:solidFill>
              </a:defRPr>
            </a:pPr>
            <a:r>
              <a:rPr sz="1725" b="1">
                <a:solidFill>
                  <a:srgbClr val="163A70"/>
                </a:solidFill>
              </a:rPr>
              <a:t>与 IR 的关系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D84F9-B8B7-47A7-A528-674E8042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00300"/>
            <a:ext cx="4524375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IR 更偏短期电压稳定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EM 更偏长期可靠性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二者都受电源网格、过孔和高功耗宏位置影响</a:t>
            </a:r>
          </a:p>
        </p:txBody>
      </p:sp>
    </p:spTree>
    <p:extLst>
      <p:ext uri="{BB962C8B-B14F-4D97-AF65-F5344CB8AC3E}">
        <p14:creationId xmlns:p14="http://schemas.microsoft.com/office/powerpoint/2010/main" val="9319145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41FE5F-E3A6-41CD-A60A-4420C363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FAC78-3368-436B-B4D1-A090AA59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6A18"/>
                </a:solidFill>
              </a:defRPr>
            </a:pPr>
            <a:r>
              <a:rPr sz="1200" b="1">
                <a:solidFill>
                  <a:srgbClr val="C46A18"/>
                </a:solidFill>
              </a:rPr>
              <a:t>第 4 章 · 电源规划与完整性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6D43D-26CA-4788-AB8A-B1ECD238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4.4 · 19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FEDA20-9D39-4922-A495-1AADC942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4.4 电源分布的基本取舍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85D05-1507-4952-B4F9-454A168F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4"/>
                </a:solidFill>
              </a:defRPr>
            </a:pPr>
            <a:r>
              <a:rPr sz="1500" b="0">
                <a:solidFill>
                  <a:srgbClr val="526174"/>
                </a:solidFill>
              </a:rPr>
              <a:t>电源线越强越安全，但会挤占信号布线资源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E995C-25E4-47C9-8118-96F29548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目标不是无限加电源资源，而是在可靠性和可布线性之间找平衡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00100" y="2438400"/>
          <a:ext xmlns:a="http://schemas.openxmlformats.org/drawingml/2006/main" cx="1038225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37883"/>
                <a:gridCol w="4152900"/>
                <a:gridCol w="3691467"/>
              </a:tblGrid>
              <a:tr h="590550"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FFFFFF"/>
                          </a:solidFill>
                        </a:rPr>
                        <a:t>做强电源网</a:t>
                      </a:r>
                    </a:p>
                  </a:txBody>
                  <a:tcPr marL="76200" marR="76200" marT="47625" marB="47625" anchor="ctr">
                    <a:solidFill>
                      <a:srgbClr val="163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FFFFFF"/>
                          </a:solidFill>
                        </a:rPr>
                        <a:t>收益</a:t>
                      </a:r>
                    </a:p>
                  </a:txBody>
                  <a:tcPr marL="76200" marR="76200" marT="47625" marB="47625" anchor="ctr">
                    <a:solidFill>
                      <a:srgbClr val="163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FFFFFF"/>
                          </a:solidFill>
                        </a:rPr>
                        <a:t>代价</a:t>
                      </a:r>
                    </a:p>
                  </a:txBody>
                  <a:tcPr marL="76200" marR="76200" marT="47625" marB="47625" anchor="ctr">
                    <a:solidFill>
                      <a:srgbClr val="163A70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加宽电源线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降低电阻和 IR 压降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减少同层信号线空间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加密电源条</a:t>
                      </a:r>
                    </a:p>
                  </a:txBody>
                  <a:tcPr marL="76200" marR="76200" marT="47625" marB="47625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提供多路径分流</a:t>
                      </a:r>
                    </a:p>
                  </a:txBody>
                  <a:tcPr marL="76200" marR="76200" marT="47625" marB="47625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提高拥塞和布线绕行</a:t>
                      </a:r>
                    </a:p>
                  </a:txBody>
                  <a:tcPr marL="76200" marR="76200" marT="47625" marB="47625" anchor="ctr">
                    <a:solidFill>
                      <a:srgbClr val="EEF3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增加过孔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降低层间串联电阻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占用局部布线轨道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靠近电源入口</a:t>
                      </a:r>
                    </a:p>
                  </a:txBody>
                  <a:tcPr marL="76200" marR="76200" marT="47625" marB="47625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缩短供电路径</a:t>
                      </a:r>
                    </a:p>
                  </a:txBody>
                  <a:tcPr marL="76200" marR="76200" marT="47625" marB="47625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可能牺牲数据流最短路径</a:t>
                      </a:r>
                    </a:p>
                  </a:txBody>
                  <a:tcPr marL="76200" marR="76200" marT="47625" marB="47625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788730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B20BFB-F0E5-4440-9387-14E10C0C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618C8-1B77-4BF5-88BE-8862BA3F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6A18"/>
                </a:solidFill>
              </a:defRPr>
            </a:pPr>
            <a:r>
              <a:rPr sz="1200" b="1">
                <a:solidFill>
                  <a:srgbClr val="C46A18"/>
                </a:solidFill>
              </a:rPr>
              <a:t>第 4 章 · 电源规划与完整性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AF6D2A-C281-49E7-837C-094881E8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4.5 · 20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B0B16-BD17-4AB8-A692-CE3F163A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4.5 电源/地布线方式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94CE8-10CC-478A-8859-C06246BC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4"/>
                </a:solidFill>
              </a:defRPr>
            </a:pPr>
            <a:r>
              <a:rPr sz="1500" b="0">
                <a:solidFill>
                  <a:srgbClr val="526174"/>
                </a:solidFill>
              </a:rPr>
              <a:t>从电源入口到标准单元供电轨，要有多条低阻路径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856AF-2393-43C9-8F65-27386614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6291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上层厚金属通常做主干网格或电源条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下层连接到标准单元供电轨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多重过孔和过孔堆栈降低层间串联电阻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去耦电容可缓解电压跌落，多电压/频率岛会提高复杂度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44a2d06884c32"/>
          <a:stretch xmlns:a="http://schemas.openxmlformats.org/drawingml/2006/main"/>
        </p:blipFill>
        <p:spPr>
          <a:xfrm xmlns:a="http://schemas.openxmlformats.org/drawingml/2006/main">
            <a:off x="5916315" y="1543050"/>
            <a:ext cx="5359995" cy="3905250"/>
          </a:xfrm>
          <a:prstGeom xmlns:a="http://schemas.openxmlformats.org/drawingml/2006/main" prst="roundRect">
            <a:avLst>
              <a:gd name="adj" fmla="val 1951"/>
            </a:avLst>
          </a:prstGeom>
        </p:spPr>
      </p:pic>
    </p:spTree>
    <p:extLst>
      <p:ext uri="{BB962C8B-B14F-4D97-AF65-F5344CB8AC3E}">
        <p14:creationId xmlns:p14="http://schemas.microsoft.com/office/powerpoint/2010/main" val="76293733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A381CC-BBE7-447A-8B08-13AAFF77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7A26A-9B0E-484C-BFED-DFE6CA6F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6A18"/>
                </a:solidFill>
              </a:defRPr>
            </a:pPr>
            <a:r>
              <a:rPr sz="1200" b="1">
                <a:solidFill>
                  <a:srgbClr val="C46A18"/>
                </a:solidFill>
              </a:rPr>
              <a:t>第 4 章 · 电源规划与完整性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E0B78-3506-4209-A788-CBC7B506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4.6 · 21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552A5-4CB5-4EE6-88FB-70A6D0EE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4.6 电源网格创建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9C7BA-1539-4A11-AB68-8073DE15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4"/>
                </a:solidFill>
              </a:defRPr>
            </a:pPr>
            <a:r>
              <a:rPr sz="1500" b="0">
                <a:solidFill>
                  <a:srgbClr val="526174"/>
                </a:solidFill>
              </a:rPr>
              <a:t>先有功耗估算，再定网格结构和参数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FD74D-2EAD-47BD-9975-E95F5576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6291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需要平均电流、峰值电流和最大电流密度估算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决定电源焊盘数量与位置、金属层、条带宽度和间距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确定过孔堆栈、是否创建电源环、是否支持电源门控或多电压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初版网格完成后必须跑早期电源网络分析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cc263b89344bc"/>
          <a:stretch xmlns:a="http://schemas.openxmlformats.org/drawingml/2006/main"/>
        </p:blipFill>
        <p:spPr>
          <a:xfrm xmlns:a="http://schemas.openxmlformats.org/drawingml/2006/main">
            <a:off x="5833769" y="1543050"/>
            <a:ext cx="5525087" cy="3905250"/>
          </a:xfrm>
          <a:prstGeom xmlns:a="http://schemas.openxmlformats.org/drawingml/2006/main" prst="roundRect">
            <a:avLst>
              <a:gd name="adj" fmla="val 1951"/>
            </a:avLst>
          </a:prstGeom>
        </p:spPr>
      </p:pic>
    </p:spTree>
    <p:extLst>
      <p:ext uri="{BB962C8B-B14F-4D97-AF65-F5344CB8AC3E}">
        <p14:creationId xmlns:p14="http://schemas.microsoft.com/office/powerpoint/2010/main" val="80840284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A66AF4-58E7-4590-BFDF-6CAA34DB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E84D8-2EDC-4038-985C-BA933D38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6A18"/>
                </a:solidFill>
              </a:defRPr>
            </a:pPr>
            <a:r>
              <a:rPr sz="1200" b="1">
                <a:solidFill>
                  <a:srgbClr val="C46A18"/>
                </a:solidFill>
              </a:rPr>
              <a:t>第 4 章 · 电源规划与完整性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07BDA-B4BD-470F-928F-8A3D9E26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4.7 · 22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C6E68-F07E-443F-ABEF-A4FEFC36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4.7 电源网格与宏单元摆放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A5CCE-8102-4E30-96F3-7010DD92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4"/>
                </a:solidFill>
              </a:defRPr>
            </a:pPr>
            <a:r>
              <a:rPr sz="1500" b="0">
                <a:solidFill>
                  <a:srgbClr val="526174"/>
                </a:solidFill>
              </a:rPr>
              <a:t>高功耗宏单元的位置本身就是电源规划的一部分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00356-4092-4F28-B89B-9E09FC50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5057775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D9F0F2"/>
          </a:solidFill>
          <a:ln xmlns:a="http://schemas.openxmlformats.org/drawingml/2006/main" w="11430">
            <a:solidFill>
              <a:srgbClr val="D3DC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7D908-219B-437A-A6C0-5B74DEA3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43100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C89"/>
                </a:solidFill>
              </a:defRPr>
            </a:pPr>
            <a:r>
              <a:rPr sz="1725" b="1">
                <a:solidFill>
                  <a:srgbClr val="087C89"/>
                </a:solidFill>
              </a:rPr>
              <a:t>摆放原则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6A93E-0CFC-46A0-8B96-7DE9B7C8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4524375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高功耗宏靠近边界电源焊盘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高功耗模块之间适当分散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供电路径、数据流和引脚方向一起看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3A62CC-01C7-432A-9F33-3E0EF543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714500"/>
            <a:ext cx="5057775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D9E6F7"/>
          </a:solidFill>
          <a:ln xmlns:a="http://schemas.openxmlformats.org/drawingml/2006/main" w="11430">
            <a:solidFill>
              <a:srgbClr val="D3DC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1C5B5-4A15-4F3A-83F9-FA58BB1E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943100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A70"/>
                </a:solidFill>
              </a:defRPr>
            </a:pPr>
            <a:r>
              <a:rPr sz="1725" b="1">
                <a:solidFill>
                  <a:srgbClr val="163A70"/>
                </a:solidFill>
              </a:rPr>
              <a:t>调试动作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016D1-518F-4FBF-92E5-99BF605A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00300"/>
            <a:ext cx="4524375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IR 热点：加密电源条、增加过孔或调整宏位置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EM 风险：加宽金属、分流电流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拥塞热点：降低利用率、拓宽通道、调整引脚方向</a:t>
            </a:r>
          </a:p>
        </p:txBody>
      </p:sp>
    </p:spTree>
    <p:extLst>
      <p:ext uri="{BB962C8B-B14F-4D97-AF65-F5344CB8AC3E}">
        <p14:creationId xmlns:p14="http://schemas.microsoft.com/office/powerpoint/2010/main" val="211186809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54E19A-3F30-4BC7-A041-51F9E171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82F05-32B6-4DF4-B7C3-9B8AC763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C89"/>
                </a:solidFill>
              </a:defRPr>
            </a:pPr>
            <a:r>
              <a:rPr sz="1200" b="1">
                <a:solidFill>
                  <a:srgbClr val="087C89"/>
                </a:solidFill>
              </a:rPr>
              <a:t>第 5 章 · 工具流程与调试收束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0F2F5-AF35-4789-BA59-A5D8774C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5.1 · 23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00C43-98A8-4185-B3F5-ED533C00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5.1 Innovus 流程：从初始化到阻挡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C3129-A123-48E0-925C-457CFF81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4"/>
                </a:solidFill>
              </a:defRPr>
            </a:pPr>
            <a:r>
              <a:rPr sz="1500" b="0">
                <a:solidFill>
                  <a:srgbClr val="526174"/>
                </a:solidFill>
              </a:rPr>
              <a:t>把布图规划按工具步骤串起来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64CA7-41D7-420F-8C55-935D640A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模块级实现还要把引脚分配到布图规划边界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00100" y="2438400"/>
          <a:ext xmlns:a="http://schemas.openxmlformats.org/drawingml/2006/main" cx="1038225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44453"/>
                <a:gridCol w="7137797"/>
              </a:tblGrid>
              <a:tr h="492125"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FFFFFF"/>
                          </a:solidFill>
                        </a:rPr>
                        <a:t>步骤</a:t>
                      </a:r>
                    </a:p>
                  </a:txBody>
                  <a:tcPr marL="76200" marR="76200" marT="47625" marB="47625" anchor="ctr">
                    <a:solidFill>
                      <a:srgbClr val="163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FFFFFF"/>
                          </a:solidFill>
                        </a:rPr>
                        <a:t>关键动作</a:t>
                      </a:r>
                    </a:p>
                  </a:txBody>
                  <a:tcPr marL="76200" marR="76200" marT="47625" marB="47625" anchor="ctr">
                    <a:solidFill>
                      <a:srgbClr val="163A70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初始化设计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读 Verilog、LEF、MMMC、SDC 与 IO 信息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指定布图</a:t>
                      </a:r>
                    </a:p>
                  </a:txBody>
                  <a:tcPr marL="76200" marR="76200" marT="47625" marB="47625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定义尺寸、长宽比和目标利用率</a:t>
                      </a:r>
                    </a:p>
                  </a:txBody>
                  <a:tcPr marL="76200" marR="76200" marT="47625" marB="47625" anchor="ctr">
                    <a:solidFill>
                      <a:srgbClr val="EEF3F8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摆放硬宏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使用绝对坐标或相对位置，摆好后固定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定义约束</a:t>
                      </a:r>
                    </a:p>
                  </a:txBody>
                  <a:tcPr marL="76200" marR="76200" marT="47625" marB="47625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加入宏周边留白、布局阻挡、布线阻挡和区域约束</a:t>
                      </a:r>
                    </a:p>
                  </a:txBody>
                  <a:tcPr marL="76200" marR="76200" marT="47625" marB="47625" anchor="ctr">
                    <a:solidFill>
                      <a:srgbClr val="EEF3F8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建立电源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映射全局 VDD/GND，创建电源环、网格和供电轨连接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689483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A761B0-BED4-44BA-8722-E8C622A3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4C3E6-994D-416D-B639-DC0BC841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C89"/>
                </a:solidFill>
              </a:defRPr>
            </a:pPr>
            <a:r>
              <a:rPr sz="1200" b="1">
                <a:solidFill>
                  <a:srgbClr val="087C89"/>
                </a:solidFill>
              </a:rPr>
              <a:t>第 5 章 · 工具流程与调试收束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5EF3B-03EA-40CA-B323-B2CEAA98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5.2 · 24 /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F070B-8584-4787-BC24-6C220B75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5.2 本讲收束：判断一个好 Floorplan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DF747-A706-4709-AA36-D55B3CA7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4"/>
                </a:solidFill>
              </a:defRPr>
            </a:pPr>
            <a:r>
              <a:rPr sz="1500" b="0">
                <a:solidFill>
                  <a:srgbClr val="526174"/>
                </a:solidFill>
              </a:rPr>
              <a:t>不是把对象塞进去，而是让后续实现都有路可走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81A32-02D3-4AA4-A675-B57A7EF9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4857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• Floorplan 收敛后再进入详细布局，返工成本最低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• 下一讲进入标准单元布局阶段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3067050"/>
          <a:ext xmlns:a="http://schemas.openxmlformats.org/drawingml/2006/main" cx="50482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4017"/>
                <a:gridCol w="2019300"/>
                <a:gridCol w="1794933"/>
              </a:tblGrid>
              <a:tr h="628650"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FFFFFF"/>
                          </a:solidFill>
                        </a:rPr>
                        <a:t>问题</a:t>
                      </a:r>
                    </a:p>
                  </a:txBody>
                  <a:tcPr marL="76200" marR="76200" marT="47625" marB="47625" anchor="ctr">
                    <a:solidFill>
                      <a:srgbClr val="163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FFFFFF"/>
                          </a:solidFill>
                        </a:rPr>
                        <a:t>优先回查</a:t>
                      </a:r>
                    </a:p>
                  </a:txBody>
                  <a:tcPr marL="76200" marR="76200" marT="47625" marB="47625" anchor="ctr">
                    <a:solidFill>
                      <a:srgbClr val="163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FFFFFF"/>
                          </a:solidFill>
                        </a:rPr>
                        <a:t>典型动作</a:t>
                      </a:r>
                    </a:p>
                  </a:txBody>
                  <a:tcPr marL="76200" marR="76200" marT="47625" marB="47625" anchor="ctr">
                    <a:solidFill>
                      <a:srgbClr val="163A7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拥塞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利用率、宏通道、引脚可达性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降密度、拓通道、转宏或改引脚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时序</a:t>
                      </a:r>
                    </a:p>
                  </a:txBody>
                  <a:tcPr marL="76200" marR="76200" marT="47625" marB="47625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宏位置、边界引脚、时序预算</a:t>
                      </a:r>
                    </a:p>
                  </a:txBody>
                  <a:tcPr marL="76200" marR="76200" marT="47625" marB="47625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调数据流、重分配预算、加接口余量</a:t>
                      </a:r>
                    </a:p>
                  </a:txBody>
                  <a:tcPr marL="76200" marR="76200" marT="47625" marB="47625" anchor="ctr">
                    <a:solidFill>
                      <a:srgbClr val="EEF3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IR/EM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电源焊盘、网格、过孔、高功耗宏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11827"/>
                          </a:solidFill>
                        </a:rPr>
                        <a:t>加密网格、加过孔、分散热点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eaff2b0f1140f2"/>
          <a:stretch xmlns:a="http://schemas.openxmlformats.org/drawingml/2006/main"/>
        </p:blipFill>
        <p:spPr>
          <a:xfrm xmlns:a="http://schemas.openxmlformats.org/drawingml/2006/main">
            <a:off x="6740209" y="1581150"/>
            <a:ext cx="4093207" cy="3657600"/>
          </a:xfrm>
          <a:prstGeom xmlns:a="http://schemas.openxmlformats.org/drawingml/2006/main" prst="roundRect">
            <a:avLst>
              <a:gd name="adj" fmla="val 2083"/>
            </a:avLst>
          </a:prstGeom>
        </p:spPr>
      </p:pic>
    </p:spTree>
    <p:extLst>
      <p:ext uri="{BB962C8B-B14F-4D97-AF65-F5344CB8AC3E}">
        <p14:creationId xmlns:p14="http://schemas.microsoft.com/office/powerpoint/2010/main" val="9375915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2026-06-23T14:04:42.9470000Z</dcterms:created>
  <dcterms:modified xsi:type="dcterms:W3CDTF">2026-06-23T14:04:42.9480000Z</dcterms:modified>
</coreProperties>
</file>