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69CBF16-56C7-45F9-A978-EC644DA53F1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把逻辑网表落成可实现的物理骨架，至少包括：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晶粒 die 边界与核心区 core；IO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硬宏的位置、朝向与固定状态；标准单元可放置区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供电轨；阻挡 / 留边 / 区域约束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此阶段改动成本低，签核阶段再改则牵一发而动全身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B4C2D3F-078A-4D2E-88D0-02C7BAD7C57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692BD80-DC08-41F6-8EE0-1C67D2144EE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pic>
        <p:nvPicPr>
          <p:cNvPr id="5" name="Picture 4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10E46A3-79B5-4087-BE56-98F0CC16E34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96588A9-C1FC-4589-8990-50B2554410B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吃什么，吐出可继续用的数据库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输入：设计网表、面积需求、电源需求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输入：时序约束、物理分区、IO / 宏单元提示（可选，省迭代）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输出：晶粒 / 模块面积，IO 已摆放，硬宏已摆放并固定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输出：电源网格初步设计、必要的电源预布线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输出：标准单元可放置区，阻挡 / 留边 / 区域约束入库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输出：可布线性、时序与电源完整性的早期评估</a:t>
            </a:r>
          </a:p>
        </p:txBody>
      </p:sp>
      <p:pic>
        <p:nvPicPr>
          <p:cNvPr id="5" name="Picture 4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4C29927-1ADC-4CA0-8C0B-91E29630D2D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不随工艺缩小、面积贵；还兼供电，直接影响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优化利用率与摆放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数量 / 焊盘间距 / 封装决定 → 优化 IO 环与协同</a:t>
            </a:r>
          </a:p>
        </p:txBody>
      </p:sp>
      <p:pic>
        <p:nvPicPr>
          <p:cNvPr id="5" name="Picture 4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E3DEAC8-5777-4F9D-A1F4-DF5B5E60927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利用率 = 标准单元占核心区比例，常见初值约 70%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太高 → 拥塞上升、合法化 / 优化自由度不足、局部拥塞、抢 PG 资源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太低 → 浪费晶粒面积、平均互连变长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=（Σ单元 + Σ宏）/ 核心区面积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 = Σ单元 /（核心区 − 阻挡 − 宏留边 − 禁布区）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不能只凭利用率定尺寸：先跑试布线 / 全局布线估拥塞再决定</a:t>
            </a:r>
          </a:p>
        </p:txBody>
      </p:sp>
      <p:pic>
        <p:nvPicPr>
          <p:cNvPr id="5" name="Picture 4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DC28162-FD24-4799-BEF0-5ABD6EBC4FC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进入物理域前网表必须唯一化：每个子模块只被引用一次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物理优化要按实例独立移动、插缓冲、优化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若两实例共享模块定义，优化 m1/u1 会牵连 m2/u1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唯一化后各实例有清晰的物理优化边界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由综合工具或设计导入阶段完成，必须在布局之前</a:t>
            </a:r>
          </a:p>
        </p:txBody>
      </p:sp>
      <p:pic>
        <p:nvPicPr>
          <p:cNvPr id="5" name="Picture 4" descr="f16_uniqu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61440"/>
            <a:ext cx="6263640" cy="41866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CAF2FC3-B31D-4B09-96EC-A5EA477B9B1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 = SRAM/ROM/PLL/模拟 IP：面积大、形状 / 引脚固定、不可拆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沿边 / 沿角摆放，不在核心中心挖洞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按数据流就近，用飞线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宏间 / 宏与边界留足信号、电源、时钟通道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必要时旋转宏改善引脚可达性，引脚避开窄通道 / 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摆好后标记固定；高功耗宏勿放芯片中心太深（供电路径长）</a:t>
            </a:r>
          </a:p>
        </p:txBody>
      </p:sp>
      <p:pic>
        <p:nvPicPr>
          <p:cNvPr id="5" name="Picture 4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43C50C0-CCA5-4E29-8E82-EE0E2B33483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6263EDF-8C41-46CC-95F6-A6C21F944FD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5" name="Picture 4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12BDF5E-C1E9-4E7B-B8A8-C210F6AFEB5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用途：保护宏上方特区、给电源预留资源、护噪声敏感模拟区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大块 RAM 放角落 / 边缘，保留宽布线通道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84E2484-7A79-4F87-AE4D-C08EDCA2A15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pic>
        <p:nvPicPr>
          <p:cNvPr id="5" name="Picture 4" descr="f17_h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38425"/>
            <a:ext cx="6263640" cy="4032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161632C-A65B-455F-8000-DE030E40737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输出延迟、时钟不确定度、负载、驱动单元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 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 提供抽象时序模型；二者都让全芯片分析更快、更可控</a:t>
            </a:r>
          </a:p>
        </p:txBody>
      </p:sp>
      <p:pic>
        <p:nvPicPr>
          <p:cNvPr id="5" name="Picture 4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CE5CFFB-91D9-4833-8EDF-2E706415B55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 IO 摆放决定对外接口，影响封装 / ESD / 电源焊盘 / 边界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模块级引脚决定层次化模块间连接、布线、时序预算与收敛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模块 pin 约束：布线层、间距、尺寸、重叠、网络分组、引导区、数据流方向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无通道 / 通道紧张的设计中 feedthrough 很关键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 feedthrough 的中间分区，会被迫绕过整块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解法：在中间分区生成 feedthrough 引脚 / 网络，把跨越拆成几段</a:t>
            </a:r>
          </a:p>
        </p:txBody>
      </p:sp>
      <p:pic>
        <p:nvPicPr>
          <p:cNvPr id="5" name="Picture 4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C439F3F-4246-45B4-B281-1CD636AEB5B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电源规划关系动态功耗、静态漏电、IR、电压跌落、EM、自热磨损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PDN 要把电流从焊盘 / 凸点送到晶体管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保持稳定低噪声电压，提供平均与峰值功耗需求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为信号提供返回路径，避免 EM 与自热磨损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合理占用芯片面积与布线资源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从 floorplan 阶段就开始，而非布线后补救</a:t>
            </a:r>
          </a:p>
        </p:txBody>
      </p:sp>
      <p:pic>
        <p:nvPicPr>
          <p:cNvPr id="5" name="Picture 4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54A50CE-561A-405E-A035-506523CD6D3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压降是供电线上的电压下降：ΔV = I · 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工具建电阻矩阵 + 各门平均电流，求解每个节点电压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实际电压低于容差 → 延迟增大、时序失败，严重时功能错误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估算：1mm×100nm 的 M1 轨（0.1Ω/□）线阻约 1000Ω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承载约 0.1mA 时 IR 压降可达约 100mV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结论：必须用更宽 / 更厚 / 更高层 / 多路径 / 多过孔的结构</a:t>
            </a:r>
          </a:p>
        </p:txBody>
      </p:sp>
      <p:pic>
        <p:nvPicPr>
          <p:cNvPr id="5" name="Picture 4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48D2675-C06C-4400-8E13-2C8927A4744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7ADC5E5-B795-4FA3-9ADA-6651530C455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A100725-12A7-4A13-AD63-5E09EB5E502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自上而下的六层结构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围绕芯片 / 核心区 / hard IP 的主干环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横跨核心区分担电流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rail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沿标准单元行连接每个单元的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连接焊盘 / 环 / 条带 / 引脚 / follow-pin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9BD3CC2-5F33-4EEB-8054-3C38DE14229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8B1DA4B-DEDC-4A89-9D25-2289BBBCF1A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5" name="Picture 4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704DB44-217D-48DB-9B31-9A393546872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初始化设计：读网表 / LEF / MMMC / SDC / IO 摆放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指定布图规划：尺寸、长宽比、目标利用率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相对坐标，标记固定，定义留边与阻挡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定义全局电源网：顶层 VDD/GND 映射到 IP 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电源环 → 电源网格 → 分配引脚，形成反复调整的闭环</a:t>
            </a:r>
          </a:p>
        </p:txBody>
      </p:sp>
      <p:pic>
        <p:nvPicPr>
          <p:cNvPr id="5" name="Picture 4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7D659EA-C7A1-41EE-A587-6A8E8F11DBA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1D4ED8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594975A-2181-423C-BAFE-4665106B614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236F76C-DCCC-4AA4-816C-A699C29C4A2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