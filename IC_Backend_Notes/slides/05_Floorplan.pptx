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数字 IC 后端 · 从 RTL 到 GDS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C64D1D3-9A4C-4594-A8E8-34C4B969DEE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综合后的门级网表只说明实例与连接，不含任何单元、宏、IO 或电源结构的物理位置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把这张逻辑网表落成可实现的物理骨架，是从逻辑世界进入物理世界的第一层承诺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骨架至少包括：晶粒 die 边界与核心区 core，IO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硬宏的位置、朝向与固定状态，以及标准单元可放置区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供电轨，以及阻挡 / 留边 / 区域约束等物理约束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后续布局、CTS、布线与电源签核都沿这个骨架继续细化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此阶段改动成本低，签核阶段再改则可能牵一发而动全身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6AC6ED3-BDF8-4870-81EA-517355931AA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02C7DE5-7754-4686-899F-CD63E7446ED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本质是一个映射：把“谁连谁”的逻辑网表，落成实例、IO、宏单元与电源网络在芯片上如何摆放、连接与供电。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它要同时服务三个目标——减小芯片面积、减小关键路径延迟、减小布线拥塞。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但三者天然冲突：面积压太紧会拥塞，通道留太宽会浪费面积，电源网格做太强又抢走信号布线资源。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 Floorplan 是在面积、时序、拥塞与供电可靠性之间做的第一轮工程取舍。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1E50C8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65EEA66-F258-45D1-9AC8-12ACD17323C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80ECFCD-E8F2-4DC1-B12C-BD5C265540F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每项输入各有作用，输出须可继续用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输入·设计网表给实例与连接；面积需求 → 估核心尺寸、利用率与宏空间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输入·电源需求 → 定电源焊盘 / 网格 / 高功耗宏位置；时序约束 → 影响划分 / 引脚 / 数据流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输入·物理分区给层次化的模块边界与约束；IO / 宏提示可选，省初期迭代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输出须具体到工具数据库可继续用：晶粒 / 模块面积，IO 与硬宏已摆放并固定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输出：电源网格初步设计、必要电源预布线完成，标准单元可放置区已定义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输出：阻挡 / 留边 / 区域约束入库，可布线性 / 时序 / 电源完整性有早期评估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C11EB09-84D9-4EAD-9608-70D8F800207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芯片几何由外到内：晶粒 Die ＞ IO / 焊盘环 ＞ 核心区 Core ＞（宏单元 + 标准单元行）。IO 引脚常由前端、系统或封装侧先提出，但物理设计必须参与评审。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原因有二：一是 IO 不像逻辑晶体管随工艺快速缩小，IO 单元与焊盘面积非常贵；二是 IO 不只传信号还负责供电，电源 / 地焊盘的数量与位置直接影响 IR 压降与 EM。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选尺寸先判断是核心受限还是焊盘受限：核心受限由逻辑规模、宏与布线资源决定芯片大小，重点优化利用率与摆放；焊盘受限由 IO 数量、焊盘间距与封装引脚决定、晶粒已不能再小，重点优化 IO 环与封装协同。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6437D06-4038-448D-88CC-81CD360FE3A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C1887BD-20A1-4BB7-A7F1-CDAF034056A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7DDB67B-98E6-407E-9659-875BA88AD06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硬宏含 SRAM/ROM/PLL/模拟 IP / 第三方 hard IP：面积大、形状 / 引脚固定，内部不可被摆放器拆开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主线：把大宏推到边缘或角落，让标准单元区保持一个尽量完整的大矩形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按数据流就近摆放，让强连接的宏与逻辑靠近，用飞线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宏与宏、宏与边界之间留足信号、电源、时钟通道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必要时旋转宏改善引脚可达性，并避免引脚对着窄通道或角落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位置确定后标记为固定；引线键合下高功耗宏勿放中心太深，否则供电路径长、IR 压力大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458D3F0-E539-480D-9DA0-1440B81C336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A55D077-AB17-48C6-9F68-635AA67E0D7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留边还为缓冲器 / 反相器插入、电源与信号布线留近宏通道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AEB5B36-0C23-4058-AC11-A253FA69472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 在某区域走线）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用途：保护宏单元上方特殊区域，给电源结构预留资源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用途：避免低层金属被不合适的信号占用，保护噪声敏感模拟区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floorplan：保持单个大的核心放置区，大块 RAM 放角落 / 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保留宽布线通道，避免收缩狭窄通道，不让大量引脚对着窄通道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A3C49F4-F5D8-46B2-8D18-DB5A66ECD25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9B595E5-F347-4152-A841-EE4F3B1A37B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芯片级约束必须映射成模块级约束。例如顶层某输入到模块的路径预算为 1.5 ns，模块实现时就要在模块边界建立对应的输入 / 输出延迟、时钟不确定性、负载与驱动单元约束。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预算合理时，各模块独立收敛后全芯片才容易收敛；预算不合理时，单个模块看似通过，全芯片仍可能失败。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接口逻辑模型（ILM）保留模块边界附近与接口相关的逻辑、隐藏内部细节；抽取时序模型（ETM）也提供模块的抽象时序模型。二者都让全芯片时序分析更快、更可控。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505DB03-B7EA-46B9-978C-423033855CC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AE1BC54-A1AD-4E2E-9B2F-050A9643457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C60E58D-01DF-47B4-A49F-193E3415C13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1F99A55-2EDD-4C22-8F03-0942DB56F1D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8F9EBC9-206E-4F4D-882F-00645FF684F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2F51288-4FBD-4CD1-AFCD-CE91392DA1D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标准做法：上层厚金属做网格 / 条带，下层连 follow-pin，过孔堆栈贯通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结构（自上而下）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所在层 / 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 pad / bump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封装边界 / 芯片表面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上层厚金属，绕芯片 / 核心 / hard IP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构成供电主干环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上层厚金属，横跨核心区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分担电流、缩短供电路径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互连成网，降低等效电阻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follow-pin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下层金属，沿标准单元行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 VDD/VSS 送到每个单元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贯穿各层，多重过孔 / 堆栈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连焊盘 / 环 / 条带 / 引脚 / rail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8C694CC-D9CB-4C05-B1FE-B3351571D8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AC23B0A-657A-4361-A6D3-B26B2848918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3680C92-1862-4999-B742-A695008D55E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工具无关的八步流程骨架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初始化设计：读入网表 / LEF / MMMC / SDC / IO 摆放信息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指定布图规划：确定布图尺寸、长宽比与目标利用率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相对坐标摆放，标记固定，并定义留边与阻挡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定义全局电源网：把顶层 VDD/GND 名称映射到 IP 的电源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创建电源环：建芯片外围电源环，必要时再为 hard IP 单独建环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⑦  建立电源网格：含 follow-pin 供电轨、条带 / 网格，并可靠连接 hard IP 电源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⑧  分配引脚：定义层次化模块的边界引脚，形成反复调整的闭环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946E410-55CB-4109-91A5-417A03494C3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ABA08C2-8E69-4765-8542-96BB29E9CDA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选项随工具版本而异；Innovus margin 四值顺序为 L / B / R /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4813FB9-E5BA-4CC8-B752-01422A0D0F0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本讲内容与图示来源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University, Course 83-612. https://enicslabs.com/academic-courses/dvd-english/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User Guide; Synopsys IC Compiler II / Fusion Compiler User Guide（命令与流程参考）.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E3A6736-2548-4A0B-813C-65BE4D87E75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