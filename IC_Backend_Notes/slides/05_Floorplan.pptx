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物理实现的第一步：把逻辑网表映射成版图骨架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2772E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从定位与意义，到电源完整性与迭代收敛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定位与意义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为何决定后端 PPA 上限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Die / Core / IO、行与翻转共享供电轨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两个利用率口径与方正取向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5056631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5001768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宏与阻挡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5422392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宏摆放、halo / blockage、专用单元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与引脚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 / Bump、引脚分配与 feedthrough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电源完整性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PG 网络、IR / EM、门控、多电压域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时序预算、拥塞预估、迭代回退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决定后端天花板，是“试布局→评估→回退”的迭代闭环，并非一遍过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综合之后、详细布局之前，把网表落成版图骨架的六项任务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确定 die 与 core 的整体几何尺寸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决定各 macro 硬核的位置与朝向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规划 IO / Pad / 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搭建 PG 电源骨架：环 / 条 / 网 / 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划分多电压域与电压岛边界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预留各类 blockage 与 halo / keepout</a:t>
            </a:r>
          </a:p>
        </p:txBody>
      </p:sp>
      <p:pic>
        <p:nvPicPr>
          <p:cNvPr id="5" name="Picture 4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决定芯片 PPA（性能/功耗/面积）的上限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利用率定得过高，再好的布局也会拥塞、绕不出线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摆放不合理，关键路径绕远，时序难以收回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规划不足，签核时才暴露 IR drop 或 EM 超标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此阶段改动几乎免费，越往后改成本急剧上升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“七分布局三分布线”是经验俗语，并非量化指标</a:t>
            </a:r>
          </a:p>
        </p:txBody>
      </p:sp>
      <p:pic>
        <p:nvPicPr>
          <p:cNvPr id="5" name="Picture 4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82493"/>
            <a:ext cx="6263640" cy="47445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Die 是芯片最外边界，含 scribe 切割道，包住一切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是放置标准单元与 macro 的内部核心区域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区 Pad Ring 是 Die 与 Core 之间的环形地带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到 IO 的间距留给电源环与 IO 走线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内被切成等高的水平标准单元行 Rows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几何层层嵌套：Die 包 Pad Ring，Pad Ring 包 Core</a:t>
            </a:r>
          </a:p>
        </p:txBody>
      </p:sp>
      <p:pic>
        <p:nvPicPr>
          <p:cNvPr id="5" name="Picture 4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等高行、site 栅格与翻转共享供电轨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Row 是 Core 切出的等高水平行，行高等于库单元高度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行高约等于 track 数乘以 M2 pitch（9T 比 7T 高）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Site 是行内最小放置栅格，定义在 LEF 文件中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相邻行镜像翻转 FS，让同名供电轨落在行边界上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上下两行共享供电轨，使轨数减半、更省面积</a:t>
            </a:r>
          </a:p>
        </p:txBody>
      </p:sp>
      <p:pic>
        <p:nvPicPr>
          <p:cNvPr id="5" name="Picture 4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两种利用率口径与长宽比取向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总利用率 =（标准单元面积 + macro 面积）÷ Core 面积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有效利用率扣除 blockage 与 halo，工具多报此口径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经验初值取 0.5–0.8，视 macro 占比、拥塞与裕量而定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目标利用率不等于 placement 之后的局部实际密度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长宽比接近 1 最利于布线与时钟树平衡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长宽比定义各工具可能相反，须以官方手册为准</a:t>
            </a:r>
          </a:p>
        </p:txBody>
      </p:sp>
      <p:pic>
        <p:nvPicPr>
          <p:cNvPr id="5" name="Picture 4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宏 = 大尺寸硬核（SRAM/PLL/IP），五条摆放原则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沿边沿角摆放，中间连续区留给标准单元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按数据流就近放置，用 flyline 或 auto placer 指导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宏间预留 channel 走线，或采用 channel-less 紧贴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引脚朝向 core，避免信号绕过宏本体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从 8 种朝向中选定，对称背靠背、对齐成阵列</a:t>
            </a:r>
          </a:p>
        </p:txBody>
      </p:sp>
      <p:pic>
        <p:nvPicPr>
          <p:cNvPr id="5" name="Picture 4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halo 与三类 blockage，为布线预留空间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Halo/Keepout 是 macro 四周禁放边带，随 macro 一起移动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Blockage 是固定坐标的禁放区，钉在版图上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类型完全禁放，soft 类型优化阶段仍可放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类型按密度上限限制，近似 density screen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Routing Blockage 禁止某些层布线，可指定具体层范围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 macro 引脚一侧加 halo，为 pin access 留出空间</a:t>
            </a:r>
          </a:p>
        </p:txBody>
      </p:sp>
      <p:pic>
        <p:nvPicPr>
          <p:cNvPr id="5" name="Picture 4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不参与逻辑，却关乎 row 与 well 连续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physical-only cell 不参与逻辑，却关乎 row 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Endcap 放在每行两端与 macro 边界，保 well/implant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Well-tap 周期性插入，为衬底提供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tap 间距须满足 max well-tap distance，否则有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在流程末期填满行内空隙，保供电轨与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的引入时机晚于 tap 与 endcap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Wire-bond 方式下，IO Pad 沿 die 四周排成 Pad Ring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需考虑信号与电源 Pad 交替、ESD 防护和 Corner Pad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方式下，信号经 Bump 面阵列从 die 表面引出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常配 RDL，是否需要取决于封装与凸点布局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Bump 须对齐封装 bump map，控制间距与电源信号比例</a:t>
            </a:r>
          </a:p>
        </p:txBody>
      </p:sp>
      <p:pic>
        <p:nvPicPr>
          <p:cNvPr id="5" name="Picture 4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顶层设计中，IO buffer 位置决定芯片对外引脚位置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块级设计中，partition 端口要分配到块边界具体位置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须落在合法 routing track 上，并与该层布线方向一致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应沿数据流方向分布，避免块间产生长绕线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信号穿过无关 block 时，须预留 feedthrough 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工具可自动优化 pin，但关键总线常需手工约束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自上而下、由粗到细，逐级连成 PG 网络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Power Ring：绕 core 或 macro 的闭合环，多用顶层粗金属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Power Stripe：横跨 core 的粗金属条，用来分担电流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Power Mesh：stripe 纵横交织成网，降低等效电阻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Std-cell Rail：沿标准单元行的 M1 供电轨（follow-pin）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Special Route：连接 ring/stripe/pin/pad 并打 via 成型</a:t>
            </a:r>
          </a:p>
        </p:txBody>
      </p:sp>
      <p:pic>
        <p:nvPicPr>
          <p:cNvPr id="5" name="Picture 4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电源完整性的两大约束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即 ΔV=I·R，离电源越远的单元压降越大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压降过大使单元延迟增大、时序变差，甚至功能失效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预算常为 VDD 的百分之几，静态与动态分别约束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指电流密度过大使金属原子迁移，导致开路或短路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网络与高翻转信号线的 EM 机理不同，需分别评估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签核常用 Voltus、RedHawk、PrimeRail 等工具</a:t>
            </a:r>
          </a:p>
        </p:txBody>
      </p:sp>
      <p:pic>
        <p:nvPicPr>
          <p:cNvPr id="5" name="Picture 4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66552"/>
            <a:ext cx="6263640" cy="4376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多电压域与 UPF 功耗意图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让不同区域采用不同电压或可关断，从而降低整体功耗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转换跨电压域信号电平，如 0.8V 与 1.0V 互转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Isolation 在关断域输出端钳位，防止下游电路浮空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在模块关断期间保持寄存器状态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Always-on Buffer 在关断域内却接常开电源以维持通路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UPF（IEEE 1801）或 CPF 描述功耗意图，floorplan 据此落地</a:t>
            </a:r>
          </a:p>
        </p:txBody>
      </p:sp>
      <p:pic>
        <p:nvPicPr>
          <p:cNvPr id="5" name="Picture 4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多电压域里可关断模块的实现手段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对可关断模块插入 Power Switch，实现 Power Gating 门控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是 PMOS 开关，置于 VDD 与虚拟 VVDD 之间，更常用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Footer 是 NMOS 开关，置于虚拟 VVSS 与 VSS 之间，较少单用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阶段要规划 switch 阵列布局与 enable 菊花链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菊花链分时开启可抑制唤醒冲击电流 inrush</a:t>
            </a:r>
          </a:p>
        </p:txBody>
      </p:sp>
      <p:pic>
        <p:nvPicPr>
          <p:cNvPr id="5" name="Picture 4" descr="f14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94" y="1554480"/>
            <a:ext cx="4662651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层次化划分与时序预算分配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层次化设计把芯片按层级切成若干 Block 或 partition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将顶层路径约束拆到各 block 边界，各自生成独立 SDC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预算分配合理时，各块独立收敛再带动顶层收敛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离逻辑越远，块内走线越长，时序 budget 越紧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可用 allocate_budgets、deriveTimingBudget 或 ETM 自动分配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预算含 IO delay、时钟不确定度以及驱动与负载等因素</a:t>
            </a:r>
          </a:p>
        </p:txBody>
      </p:sp>
      <p:pic>
        <p:nvPicPr>
          <p:cNvPr id="5" name="Picture 4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拥塞与 IR 的早期预估、迭代收敛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用全局布线 GR 估算各 GCell 的需求资源比，得到拥塞图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拥塞分两类：区域整体超资源，与引脚密集处 pin-access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热点常出现在 macro notch、窄 channel 与 pin 密集区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缓解手段包括降利用率、加宽 channel、加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用静态 PG 分析早估 IR drop，定位高压降区并加密 mesh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迭代闭环：floorplan、试布局加 GR、评估，再回退调整</a:t>
            </a:r>
          </a:p>
        </p:txBody>
      </p:sp>
      <p:pic>
        <p:nvPicPr>
          <p:cNvPr id="5" name="Picture 4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输入、输出与关键文件作用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输入含门级 netlist、LEF、Liberty、SDC、UPF 与预算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输出是带 macro 摆放、PG 与 blockage 的 DEF 文件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还输出 Floorplan 数据库 NDM/OA 及可布线性与时序初评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LEF 提供 site、layer、布线规则及单元与 macro 抽象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 用于交换 die/core、row、macro 位置、pin 与 PG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常用工具为 Synopsys ICC2/FC 与 Cadence Innovus</a:t>
            </a:r>
          </a:p>
        </p:txBody>
      </p:sp>
      <p:pic>
        <p:nvPicPr>
          <p:cNvPr id="5" name="Picture 4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关键收敛指标与常见问题对策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核心利用率保持在 0.5–0.8 区间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长宽比接近 1.0，版图尽量方正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Congestion Overflow 拥塞溢出趋近 0，无大片红区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WNS / TNS 均大于等于 0，时序已收敛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Static 与 Dynamic IR 压降各占标称 VDD 百分之几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裕量满足 foundry 的电流密度规则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布线绕不出：降低利用率，或加宽 macro 间 channel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时序收不回：按 dataflow 重摆 macro，并优化 pin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超标：加密电源 mesh，并增补 via array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违例：加宽金属线，并联多个 via 分流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拥塞：增加 halo，调整 pin 所在层与间距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唤醒冲击大：enable 菊花链分时开启 power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八条核心要点回顾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是 P&amp;R 第一步，定 die/core 几何、macro、PG 与电压域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几何上要分清总利用率与有效利用率（0.5–0.8），长宽比约为 1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沿边沿角按 dataflow 摆放，配 channel、halo、blockage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与 bump 用 pad ring 或 bump array，块级 pin 须落合法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电源依 ring→stripe→mesh→rail→sroute 成型，控住 IR/EM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多电压域用 LS/ISO/retention/always-on/switch，由 UPF/CPF 描述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时序预算把顶层约束拆到各 block，pin 位置与 budget 强耦合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IR，收敛后再进 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易混淆点 · 课后自测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16 题自测：逐题回想要点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1–8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Utilization 过高、过低各有何后果？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 与 Placement Blockage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/ Soft / Partial Blockage 各限制什么？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与 Routing Blockage 分别限制什么？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与 Isolation 各解决什么？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与 Always-on Buffer 各保什么？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与 Footer 各门控哪条电源？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与 EM 各影响什么？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9–16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Ring / Stripe / Mesh / Rail / sroute 各起何作用？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Flyline 飞线在 floorplan 起什么作用？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与 Placement Density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 与 CPF 分别归属哪两家？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为何偏好接近 1.0？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为什么相邻标准单元行要上下翻转？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defIn 与 floorPlan 语义有何不同？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Voltus / RedHawk / PrimeRail 各属哪家厂商？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C2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绕不出看利用率/channel · 时序差看 macro/pin · IR 超标看 mesh/via · Floorplan 是迭代回环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