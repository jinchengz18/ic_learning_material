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2860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10312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Floorplan 布图规划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29184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数字 IC 后端 · 从 RTL 到 GDS · DVD Lecture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本讲导览  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24 页 · 每节一图/一题，知识点写在页面上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基础与几何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定位与意义、为什么决定 PPA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 / Core / IO 几何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利用率与长宽比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 / site / 翻转供电轨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实现要素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宏摆放、halo/blockage、专用单元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IO/Pad/Bump 与引脚分配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电源/IR/EM、门控、多电压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时序预算、拥塞闭环、命令/考点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02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什么是 Floorplan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物理实现的第一步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物理实现(P&amp;R)第一个确定版图骨架的步骤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位置：综合出门级网表后、详细布局前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之前有“设计导入”：读库/网表/SDC/UPF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任务①：die / core 几何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任务②③：宏的位置朝向、IO/Pad/Bump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任务④⑤⑥：PG 骨架、多电压域、blockage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本质：逻辑网表 → 物理布局骨架</a:t>
            </a:r>
          </a:p>
        </p:txBody>
      </p:sp>
      <p:pic>
        <p:nvPicPr>
          <p:cNvPr id="6" name="Picture 5" descr="f01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为什么重要：一步错，步步错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决定 PPA 上限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决定芯片 PPA(性能/功耗/面积)的上限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利用率定高 → 再优秀的布局也拥塞绕不出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宏乱放 → 关键路径绕远，时序收不回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不足 → 签核才发现 IR drop / EM 超标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阶段改≈免费，越往后改成本急剧上升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“七分布局三分布线”是经验俗语、非量化</a:t>
            </a:r>
          </a:p>
        </p:txBody>
      </p:sp>
      <p:pic>
        <p:nvPicPr>
          <p:cNvPr id="6" name="Picture 5" descr="f02_wh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97550"/>
            <a:ext cx="6263640" cy="471445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芯片几何：Die / IO / Core / Rows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各区域从属关系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Die：芯片最外边界，含 scribe 切割道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Core：放标准单元与宏的内部区域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 / Pad Ring：Die 与 Core 间的环形区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Core-to-IO 间距：走电源环 / IO 走线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内切成等高的标准单元行 Rows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嵌套：Die ＞ Pad Ring ＞ Core ＞ Macro+Rows</a:t>
            </a:r>
          </a:p>
        </p:txBody>
      </p:sp>
      <p:pic>
        <p:nvPicPr>
          <p:cNvPr id="6" name="Picture 5" descr="f03_geomet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1540" y="1554480"/>
            <a:ext cx="5873359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05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利用率与长宽比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两个口径要分清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Total Util = (Σ单元+Σ宏) / Core 面积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Effective Util 扣除 blockage/halo，工具多报此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经验初值 0.5–0.8，看 macro/拥塞/裕量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目标利用率 ≠ placement 后局部密度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 H/W ≈ 1 最利于布线与时钟树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长宽比约定各工具可能相反，以手册为准</a:t>
            </a:r>
          </a:p>
        </p:txBody>
      </p:sp>
      <p:pic>
        <p:nvPicPr>
          <p:cNvPr id="6" name="Picture 5" descr="f04_uti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标准单元行 / site / 翻转共享供电轨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面积更省的小机关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Row：等高水平行；行高=库单元高度(9T/7T)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行高 ≈ track 数 × M2 pitch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Site：行内最小放置栅格，定义于 LEF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单元宽度必须是 site 宽度的整数倍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相邻行镜像翻转(FS) → 同名轨落在行边界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上下两行共享同名轨 → 供电轨条数减半</a:t>
            </a:r>
          </a:p>
        </p:txBody>
      </p:sp>
      <p:pic>
        <p:nvPicPr>
          <p:cNvPr id="6" name="Picture 5" descr="f05_row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75143"/>
            <a:ext cx="6263640" cy="47592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宏单元摆放原则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Macro Placement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 = SRAM/PLL/IP，尺寸大、形状/引脚固定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① 沿边/沿角，中间留给标准单元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② 按数据流就近(flyline、auto placer)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③ 留 channel；或 channel-less 紧贴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④ 引脚朝 core，避免绕过宏本体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⑤ 朝向(8 种)与对称背靠背、规整阵列</a:t>
            </a:r>
          </a:p>
        </p:txBody>
      </p:sp>
      <p:pic>
        <p:nvPicPr>
          <p:cNvPr id="6" name="Picture 5" descr="f06_mac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halo / keepout 与各类 blockage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给布线留活路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Halo/Keepout：宏四周禁放边带，跟随宏移动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Blockage：固定坐标的禁放区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hard 全禁 / soft 优化阶段可放 buffer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partial 按密度上限(≈density screen 不等价)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Routing Blockage：禁某些层布线，可指定层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宏引脚侧加 halo 给 pin access 留空间</a:t>
            </a:r>
          </a:p>
        </p:txBody>
      </p:sp>
      <p:pic>
        <p:nvPicPr>
          <p:cNvPr id="6" name="Picture 5" descr="f07_ha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09490"/>
            <a:ext cx="6263640" cy="469057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09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物理专用单元：endcap / well-tap / filler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physical-only cell，floorplan 早期就要规划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physical-only cell：不参与逻辑，但关乎 row/well 连续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Endcap / Boundary：放每行两端及 macro 边界，保 well/implant 连续与 DRC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Well-tap：周期插入提供 well 偏置接触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间距须满足 max well-tap distance(DRC)，否则 latch-up 风险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Filler：末期填行内空隙，保供电轨与 well 连续；时机晚于 tap/endcap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10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IO / Pad、Bump（封装相关）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wire-bond vs flip-chip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Wire-bond：IO Pad 沿 die 四周排成 Pad Ring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考虑信号/电源 Pad 交替、ESD、Corner Pad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Flip-Chip：信号经 Bump 面阵列从 die 表面引出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常配 RDL 重布线层；是否需要取决封装/凸点布局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  bump 对齐封装 bump map，控间距与电源/信号比例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11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引脚分配 Pin Assignment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pin 位置决定块间走线与时序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顶层：IO buffer 位置决定芯片对外引脚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块级：partition 端口分配到块边界具体位置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须落合法 routing track、与该层布线方向一致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沿数据流方向分布，避免长绕线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注意 feedthrough：信号穿无关 block 需预留穿通端口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工具可自动优化，关键总线常需手工约束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12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电源规划：Ring → Stripe → Mesh → Rails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PG 网络自上而下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Ring：绕 core/macro 的闭合环(顶层金属)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Stripe：横跨 core 的粗金属条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Power Mesh：stripe 纵横交织成网，降等效电阻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Std-cell Rail：沿行的 M1 供电轨(follow-pin)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Special Route(sroute)：连接 ring/stripe/pin/pad 打 via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sroute 范围广，是 PG 成型的关键步骤</a:t>
            </a:r>
          </a:p>
        </p:txBody>
      </p:sp>
      <p:pic>
        <p:nvPicPr>
          <p:cNvPr id="6" name="Picture 5" descr="f08_pow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676348"/>
            <a:ext cx="6263640" cy="45568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13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IR drop 与 电迁移 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签核要过的两关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drop：ΔV=I·R，离电源越远压降越大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压降过大 → 时序变差甚至功能失效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预算常为 VDD 的百分之几，静/动分别约束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EM：电流密度 J 过大，金属原子迁移致断/短路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PG 与高翻转信号线的 EM 机理不同，分别评估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签核：Voltus(Cadence)/RedHawk(Ansys)/PrimeRail(Synopsys)</a:t>
            </a:r>
          </a:p>
        </p:txBody>
      </p:sp>
      <p:pic>
        <p:nvPicPr>
          <p:cNvPr id="6" name="Picture 5" descr="f09_ire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14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电源门控：power switch / header / footer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对可关断模块做 Power Gating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109728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可关断模块插 Power Switch 实现 Power Gating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Header(PMOS)：门控 VDD—VVDD，工程上更常用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Footer(NMOS)：门控 VVSS—VSS，较少单独使用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+ footer 同用罕见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floorplan 规划 switch 阵列与 enable 菊花链走向</a:t>
            </a:r>
          </a:p>
          <a:p>
            <a:pPr algn="l">
              <a:lnSpc>
                <a:spcPct val="12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菊花链分时开启 → 控冲击电流与唤醒时间；规划 always-on PG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15 / 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多电压域与 UPF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Multi-Voltage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不同区域不同电压(或可关断) → 省功耗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Shifter：跨电压域信号电平转换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Isolation：关断域输出钳位，防下游浮空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FF：关断期间保状态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Always-on Buffer：关断域内接常开电源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UPF(IEEE 1801)/CPF 描述意图，floorplan 落地电压区域</a:t>
            </a:r>
          </a:p>
        </p:txBody>
      </p:sp>
      <p:pic>
        <p:nvPicPr>
          <p:cNvPr id="6" name="Picture 5" descr="f10_m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40229"/>
            <a:ext cx="6263640" cy="442910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16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时序预算与模块划分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分而治之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层次化设计按层级切成 Block / partition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把顶层路径约束拆到各 block 边界 → 各自 SDC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预算合理 → 各块独立收敛后顶层收敛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离逻辑越远，块内走线越长、budget 越紧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自动预算：allocate_budgets / deriveTimingBudget / ETM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budget 含 IO delay + 时钟不确定度 + 驱动/负载</a:t>
            </a:r>
          </a:p>
        </p:txBody>
      </p:sp>
      <p:pic>
        <p:nvPicPr>
          <p:cNvPr id="6" name="Picture 5" descr="f11_budg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711904"/>
            <a:ext cx="6263640" cy="448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17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拥塞 / IR 早期预估与迭代闭环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Floorplan 不是一遍过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拥塞早估：GR 估 GCell 需求/资源 → 拥塞图 + Overflow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全局拥塞：区域整体需求超资源(利用率高/stripe 密)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局部/pin-access 拥塞：引脚密集处可达性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热点：macro notch、窄 channel、pin 密集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缓解：降利用率、加宽 channel、partial blockage、优化 pin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早估：静态 PG 分析定位高压降区，加密 mesh/via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迭代闭环：floorplan → 试布局/GR → 评估 → 回退调整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18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输入 / 输出 与 文件作用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吃什么、吐什么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470916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输入：netlist、LEF、lib、SDC、UPF、预算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输出：带宏摆放+PG+blockage 的 DEF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输出 Floorplan DB(NDM/OA)、可布线性/时序初评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LEF：site/layer/规则/单元抽象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DEF：die/core/row/macro/pin/PG 交换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5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工具：Synopsys ICC2/FC、Cadence Innovus</a:t>
            </a:r>
          </a:p>
        </p:txBody>
      </p:sp>
      <p:pic>
        <p:nvPicPr>
          <p:cNvPr id="6" name="Picture 5" descr="f12_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6777" y="1554480"/>
            <a:ext cx="5202884" cy="48006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19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衡量指标与常见问题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收敛看指标，出问题反查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关键指标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Utilization 0.5–0.8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≈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Congestion Overflow →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WNS / TNS ≥ 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Static/Dynamic IR：VDD 百分之几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margin：满足 foundry 规则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问题 → 对策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绕不出 → 降 util / 加宽 channel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时序差 → 重摆 macro / 优 pin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超标 → 加密 mesh /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EM 违例 → 加宽线 / 并联 via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Pin 拥塞 → 加 halo / 调层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唤醒冲击 → 菊花链分时开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20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EDA 命令速查（ICC2 / Innovus）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选项随版本而异；坑：Innovus margin 四值为 LBRT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Synopsys · ICC2 / Fusion Compiler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initialize_floorplan \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  -core_utilization 0.70 -side_ratio {1 1}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create_keepout_margin -outer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create_placement_blockage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create_pg_ring/mesh_pattern + compile_pg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place_pins / set_block_pin_constraints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create_voltage_area      # multi-VDD domain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4B8A6"/>
                </a:solidFill>
                <a:latin typeface="Microsoft YaHei"/>
                <a:ea typeface="Microsoft YaHei"/>
                <a:cs typeface="Microsoft YaHei"/>
              </a:rPr>
              <a:t>Cadence · Innovus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46320" cy="36576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floorPlan -r 1.0 0.7 &lt;L&gt; &lt;B&gt; &lt;R&gt; &lt;T&gt;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addHaloToBlock {l b r t}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createPlaceBlockage -type hard/soft/partial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addRing / addStripe / sroute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editPin / assignIoPins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createPowerDomain        # multi-VDD domain</a:t>
            </a:r>
          </a:p>
          <a:p>
            <a:pPr algn="l">
              <a:spcAft>
                <a:spcPts val="700"/>
              </a:spcAft>
            </a:pPr>
            <a:r>
              <a:rPr sz="1150" b="0">
                <a:solidFill>
                  <a:srgbClr val="1E293B"/>
                </a:solidFill>
                <a:latin typeface="Consolas"/>
                <a:ea typeface="Consolas"/>
                <a:cs typeface="Consolas"/>
              </a:rPr>
              <a:t>defIn != floorPlan  (read DEF vs create)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21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8 句话带走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FP = P&amp;R 第一步，定 die/core/macro/PG/电压域，决定 PPA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几何：总/有效利用率(0.5–0.8)、长宽比≈1、行翻转共享轨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宏：沿边/dataflow/朝向、channel、halo、blockage、专用单元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IO/bump 与 pin：pad ring vs bump array、track/feedthrough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600200"/>
            <a:ext cx="5486400" cy="48463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电源：ring→stripe→mesh→rail→sroute，控 IR/EM、门控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多电压：LS/ISO/retention/always-on/switch，UPF/CPF 落地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时序预算：拆到各 block，pin 与 budget 耦合</a:t>
            </a:r>
          </a:p>
          <a:p>
            <a:pPr algn="l">
              <a:lnSpc>
                <a:spcPct val="120000"/>
              </a:lnSpc>
              <a:spcAft>
                <a:spcPts val="900"/>
              </a:spcAft>
            </a:pPr>
            <a:r>
              <a:rPr sz="145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迭代闭环：GR 估拥塞、静态 PG 估 IR，回退收敛再进 placement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22 / 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57200"/>
            <a:ext cx="146304" cy="566928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384048"/>
            <a:ext cx="10789920" cy="73152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易混淆点 / 面试高频考点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1078992"/>
            <a:ext cx="1078992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16 题课后自测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64207"/>
            <a:ext cx="82296" cy="4443983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1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2563EB"/>
                </a:solidFill>
                <a:latin typeface="Microsoft YaHei"/>
                <a:ea typeface="Microsoft YaHei"/>
                <a:cs typeface="Microsoft YaHei"/>
              </a:rPr>
              <a:t>面试题 1–8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1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Utilization 过高 vs 过低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Halo vs Placement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Hard / Soft / Partial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Placement vs Routing Blockage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Level Shifter vs Isolation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Retention FF vs Always-on Buffer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Header vs Footer Switch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IR Drop vs EM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554480"/>
            <a:ext cx="530352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217920" y="1664207"/>
            <a:ext cx="82296" cy="4443983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59" y="1783080"/>
            <a:ext cx="475488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59E0B"/>
                </a:solidFill>
                <a:latin typeface="Microsoft YaHei"/>
                <a:ea typeface="Microsoft YaHei"/>
                <a:cs typeface="Microsoft YaHei"/>
              </a:rPr>
              <a:t>面试题 9–16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959" y="2377440"/>
            <a:ext cx="4800600" cy="3749039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Ring/Stripe/Mesh/Rail/sroute 区别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Flylines 的作用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Core Util vs Placement Density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UPF vs CPF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Aspect Ratio 为何偏好 1.0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为什么相邻行要翻转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defIn vs floorPlan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1E293B"/>
                </a:solidFill>
                <a:latin typeface="Microsoft YaHei"/>
                <a:ea typeface="Microsoft YaHei"/>
                <a:cs typeface="Microsoft YaHei"/>
              </a:rPr>
              <a:t>▪  签核工具厂商归属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0" y="6455664"/>
            <a:ext cx="201168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r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23 / 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55664"/>
            <a:ext cx="3657600" cy="36576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94A3B8"/>
                </a:solidFill>
                <a:latin typeface="Microsoft YaHei"/>
                <a:ea typeface="Microsoft YaHei"/>
                <a:cs typeface="Microsoft YaHei"/>
              </a:rPr>
              <a:t>Floorplan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9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2743200"/>
            <a:ext cx="146304" cy="64008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2606040"/>
            <a:ext cx="10058400" cy="109728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>
                <a:solidFill>
                  <a:srgbClr val="FFFFFF"/>
                </a:solidFill>
                <a:latin typeface="Microsoft YaHei"/>
                <a:ea typeface="Microsoft YaHei"/>
                <a:cs typeface="Microsoft YaHei"/>
              </a:rPr>
              <a:t>谢谢 · Thanks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3566160"/>
            <a:ext cx="10058400" cy="54864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>
                <a:solidFill>
                  <a:srgbClr val="CBD5E1"/>
                </a:solidFill>
                <a:latin typeface="Microsoft YaHei"/>
                <a:ea typeface="Microsoft YaHei"/>
                <a:cs typeface="Microsoft YaHei"/>
              </a:rPr>
              <a:t>下一讲：Placement 布局（DVD Lec 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6035040"/>
            <a:ext cx="10058400" cy="457200"/>
          </a:xfrm>
          <a:prstGeom prst="rect">
            <a:avLst/>
          </a:prstGeom>
          <a:noFill/>
        </p:spPr>
        <p:txBody>
          <a:bodyPr wrap="square" anchor="t" lIns="25400" rIns="25400" tIns="25400" bIns="25400">
            <a:spAutoFit/>
          </a:bodyPr>
          <a:lstStyle/>
          <a:p>
            <a:pPr algn="l">
              <a:spcAft>
                <a:spcPts val="600"/>
              </a:spcAft>
            </a:pPr>
            <a:r>
              <a:rPr sz="1100" b="0">
                <a:solidFill>
                  <a:srgbClr val="64748B"/>
                </a:solidFill>
                <a:latin typeface="Microsoft YaHei"/>
                <a:ea typeface="Microsoft YaHei"/>
                <a:cs typeface="Microsoft YaHei"/>
              </a:rPr>
              <a:t>整理 J.C  ·  源自 Digital VLSI Design (DVD), Prof. Adam Teman, Bar-Ilan University (83-612)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J.C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